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7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6858000" cy="9144000"/>
  <p:embeddedFontLst>
    <p:embeddedFont>
      <p:font typeface="Arimo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Bold" panose="00000800000000000000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039" autoAdjust="0"/>
  </p:normalViewPr>
  <p:slideViewPr>
    <p:cSldViewPr>
      <p:cViewPr varScale="1">
        <p:scale>
          <a:sx n="43" d="100"/>
          <a:sy n="43" d="100"/>
        </p:scale>
        <p:origin x="12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10.png"/><Relationship Id="rId21" Type="http://schemas.openxmlformats.org/officeDocument/2006/relationships/image" Target="../media/image27.svg"/><Relationship Id="rId7" Type="http://schemas.openxmlformats.org/officeDocument/2006/relationships/image" Target="../media/image3.pn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9.jpe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21.jpe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1.sv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24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12" Type="http://schemas.openxmlformats.org/officeDocument/2006/relationships/image" Target="../media/image23.svg"/><Relationship Id="rId17" Type="http://schemas.openxmlformats.org/officeDocument/2006/relationships/image" Target="../media/image3.png"/><Relationship Id="rId2" Type="http://schemas.openxmlformats.org/officeDocument/2006/relationships/image" Target="../media/image28.png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11" Type="http://schemas.openxmlformats.org/officeDocument/2006/relationships/image" Target="../media/image22.png"/><Relationship Id="rId5" Type="http://schemas.openxmlformats.org/officeDocument/2006/relationships/image" Target="../media/image30.png"/><Relationship Id="rId15" Type="http://schemas.openxmlformats.org/officeDocument/2006/relationships/image" Target="../media/image26.png"/><Relationship Id="rId10" Type="http://schemas.openxmlformats.org/officeDocument/2006/relationships/image" Target="../media/image35.svg"/><Relationship Id="rId4" Type="http://schemas.openxmlformats.org/officeDocument/2006/relationships/image" Target="../media/image21.jpeg"/><Relationship Id="rId9" Type="http://schemas.openxmlformats.org/officeDocument/2006/relationships/image" Target="../media/image34.png"/><Relationship Id="rId14" Type="http://schemas.openxmlformats.org/officeDocument/2006/relationships/image" Target="../media/image25.svg"/></Relationships>
</file>

<file path=ppt/slides/_rels/slide4.xml.rels><?xml version="1.0" encoding="UTF-8" standalone="yes"?>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39.jpg"/><Relationship Id="rId3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11" Type="http://schemas.openxmlformats.org/officeDocument/2006/relationships/image" Target="../media/image26.png"/><Relationship Id="rId5" Type="http://schemas.openxmlformats.org/officeDocument/2006/relationships/image" Target="../media/image38.png"/><Relationship Id="rId15" Type="http://schemas.openxmlformats.org/officeDocument/2006/relationships/image" Target="../media/image41.jpg"/><Relationship Id="rId10" Type="http://schemas.openxmlformats.org/officeDocument/2006/relationships/image" Target="../media/image25.svg"/><Relationship Id="rId4" Type="http://schemas.openxmlformats.org/officeDocument/2006/relationships/image" Target="../media/image37.png"/><Relationship Id="rId9" Type="http://schemas.openxmlformats.org/officeDocument/2006/relationships/image" Target="../media/image24.png"/><Relationship Id="rId14" Type="http://schemas.openxmlformats.org/officeDocument/2006/relationships/image" Target="../media/image40.jpg"/></Relationships>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44.jpg"/><Relationship Id="rId3" Type="http://schemas.openxmlformats.org/officeDocument/2006/relationships/image" Target="../media/image42.png"/><Relationship Id="rId7" Type="http://schemas.openxmlformats.org/officeDocument/2006/relationships/image" Target="../media/image24.png"/><Relationship Id="rId12" Type="http://schemas.openxmlformats.org/officeDocument/2006/relationships/image" Target="../media/image43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3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jpeg"/><Relationship Id="rId9" Type="http://schemas.openxmlformats.org/officeDocument/2006/relationships/image" Target="../media/image26.png"/><Relationship Id="rId14" Type="http://schemas.openxmlformats.org/officeDocument/2006/relationships/image" Target="../media/image45.jpg"/></Relationships>
</file>

<file path=ppt/slides/_rels/slide6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47.jpg"/><Relationship Id="rId3" Type="http://schemas.openxmlformats.org/officeDocument/2006/relationships/image" Target="../media/image42.png"/><Relationship Id="rId7" Type="http://schemas.openxmlformats.org/officeDocument/2006/relationships/image" Target="../media/image24.png"/><Relationship Id="rId12" Type="http://schemas.openxmlformats.org/officeDocument/2006/relationships/image" Target="../media/image46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3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7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49.jpg"/><Relationship Id="rId3" Type="http://schemas.openxmlformats.org/officeDocument/2006/relationships/image" Target="../media/image42.png"/><Relationship Id="rId7" Type="http://schemas.openxmlformats.org/officeDocument/2006/relationships/image" Target="../media/image24.png"/><Relationship Id="rId12" Type="http://schemas.openxmlformats.org/officeDocument/2006/relationships/image" Target="../media/image4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3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jpeg"/><Relationship Id="rId9" Type="http://schemas.openxmlformats.org/officeDocument/2006/relationships/image" Target="../media/image26.png"/><Relationship Id="rId14" Type="http://schemas.openxmlformats.org/officeDocument/2006/relationships/image" Target="../media/image50.jpg"/></Relationships>
</file>

<file path=ppt/slides/_rels/slide8.xml.rels><?xml version="1.0" encoding="UTF-8" standalone="yes"?>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21.jpeg"/><Relationship Id="rId3" Type="http://schemas.openxmlformats.org/officeDocument/2006/relationships/image" Target="../media/image23.sv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22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55.png"/><Relationship Id="rId5" Type="http://schemas.openxmlformats.org/officeDocument/2006/relationships/image" Target="../media/image25.svg"/><Relationship Id="rId15" Type="http://schemas.openxmlformats.org/officeDocument/2006/relationships/image" Target="../media/image27.svg"/><Relationship Id="rId10" Type="http://schemas.openxmlformats.org/officeDocument/2006/relationships/image" Target="../media/image54.png"/><Relationship Id="rId4" Type="http://schemas.openxmlformats.org/officeDocument/2006/relationships/image" Target="../media/image24.png"/><Relationship Id="rId9" Type="http://schemas.openxmlformats.org/officeDocument/2006/relationships/image" Target="../media/image53.png"/><Relationship Id="rId14" Type="http://schemas.openxmlformats.org/officeDocument/2006/relationships/image" Target="../media/image26.png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1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5.svg"/><Relationship Id="rId12" Type="http://schemas.openxmlformats.org/officeDocument/2006/relationships/image" Target="../media/image61.png"/><Relationship Id="rId2" Type="http://schemas.openxmlformats.org/officeDocument/2006/relationships/video" Target="../media/media1.mp4"/><Relationship Id="rId16" Type="http://schemas.openxmlformats.org/officeDocument/2006/relationships/image" Target="../media/image62.png"/><Relationship Id="rId1" Type="http://schemas.microsoft.com/office/2007/relationships/media" Target="../media/media1.mp4"/><Relationship Id="rId6" Type="http://schemas.openxmlformats.org/officeDocument/2006/relationships/image" Target="../media/image24.png"/><Relationship Id="rId11" Type="http://schemas.openxmlformats.org/officeDocument/2006/relationships/image" Target="../media/image60.png"/><Relationship Id="rId5" Type="http://schemas.openxmlformats.org/officeDocument/2006/relationships/image" Target="../media/image23.svg"/><Relationship Id="rId15" Type="http://schemas.openxmlformats.org/officeDocument/2006/relationships/image" Target="../media/image27.svg"/><Relationship Id="rId10" Type="http://schemas.openxmlformats.org/officeDocument/2006/relationships/image" Target="../media/image59.png"/><Relationship Id="rId4" Type="http://schemas.openxmlformats.org/officeDocument/2006/relationships/image" Target="../media/image22.png"/><Relationship Id="rId9" Type="http://schemas.openxmlformats.org/officeDocument/2006/relationships/image" Target="../media/image58.png"/><Relationship Id="rId14" Type="http://schemas.openxmlformats.org/officeDocument/2006/relationships/image" Target="../media/image26.png"/></Relationships>
</file>

<file path=ppt/slides/_rels/slide10.xml.rels><?xml version="1.0" encoding="UTF-8" standalone="yes"?>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26.png"/><Relationship Id="rId3" Type="http://schemas.openxmlformats.org/officeDocument/2006/relationships/image" Target="../media/image23.svg"/><Relationship Id="rId7" Type="http://schemas.openxmlformats.org/officeDocument/2006/relationships/image" Target="../media/image63.png"/><Relationship Id="rId12" Type="http://schemas.openxmlformats.org/officeDocument/2006/relationships/image" Target="../media/image2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7.png"/><Relationship Id="rId5" Type="http://schemas.openxmlformats.org/officeDocument/2006/relationships/image" Target="../media/image25.svg"/><Relationship Id="rId15" Type="http://schemas.openxmlformats.org/officeDocument/2006/relationships/image" Target="../media/image68.png"/><Relationship Id="rId10" Type="http://schemas.openxmlformats.org/officeDocument/2006/relationships/image" Target="../media/image66.png"/><Relationship Id="rId4" Type="http://schemas.openxmlformats.org/officeDocument/2006/relationships/image" Target="../media/image24.png"/><Relationship Id="rId9" Type="http://schemas.openxmlformats.org/officeDocument/2006/relationships/image" Target="../media/image65.png"/><Relationship Id="rId14" Type="http://schemas.openxmlformats.org/officeDocument/2006/relationships/image" Target="../media/image27.svg"/></Relationships>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7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5.svg"/><Relationship Id="rId12" Type="http://schemas.openxmlformats.org/officeDocument/2006/relationships/image" Target="../media/image72.png"/><Relationship Id="rId17" Type="http://schemas.openxmlformats.org/officeDocument/2006/relationships/image" Target="../media/image75.png"/><Relationship Id="rId2" Type="http://schemas.openxmlformats.org/officeDocument/2006/relationships/video" Target="../media/media2.mp4"/><Relationship Id="rId16" Type="http://schemas.openxmlformats.org/officeDocument/2006/relationships/image" Target="../media/image27.svg"/><Relationship Id="rId1" Type="http://schemas.microsoft.com/office/2007/relationships/media" Target="../media/media2.mp4"/><Relationship Id="rId6" Type="http://schemas.openxmlformats.org/officeDocument/2006/relationships/image" Target="../media/image24.png"/><Relationship Id="rId11" Type="http://schemas.openxmlformats.org/officeDocument/2006/relationships/image" Target="../media/image71.png"/><Relationship Id="rId5" Type="http://schemas.openxmlformats.org/officeDocument/2006/relationships/image" Target="../media/image23.svg"/><Relationship Id="rId15" Type="http://schemas.openxmlformats.org/officeDocument/2006/relationships/image" Target="../media/image26.png"/><Relationship Id="rId10" Type="http://schemas.openxmlformats.org/officeDocument/2006/relationships/image" Target="../media/image70.png"/><Relationship Id="rId4" Type="http://schemas.openxmlformats.org/officeDocument/2006/relationships/image" Target="../media/image22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26.png"/><Relationship Id="rId3" Type="http://schemas.openxmlformats.org/officeDocument/2006/relationships/image" Target="../media/image23.svg"/><Relationship Id="rId7" Type="http://schemas.openxmlformats.org/officeDocument/2006/relationships/image" Target="../media/image3.png"/><Relationship Id="rId12" Type="http://schemas.openxmlformats.org/officeDocument/2006/relationships/image" Target="../media/image12.png"/><Relationship Id="rId2" Type="http://schemas.openxmlformats.org/officeDocument/2006/relationships/image" Target="../media/image22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-compressed.jpg"/><Relationship Id="rId11" Type="http://schemas.openxmlformats.org/officeDocument/2006/relationships/image" Target="../media/image80.png"/><Relationship Id="rId5" Type="http://schemas.openxmlformats.org/officeDocument/2006/relationships/image" Target="../media/image25.svg"/><Relationship Id="rId15" Type="http://schemas.openxmlformats.org/officeDocument/2006/relationships/image" Target="../media/image81.png"/><Relationship Id="rId10" Type="http://schemas.openxmlformats.org/officeDocument/2006/relationships/image" Target="../media/image79.png"/><Relationship Id="rId4" Type="http://schemas.openxmlformats.org/officeDocument/2006/relationships/image" Target="../media/image24.png"/><Relationship Id="rId9" Type="http://schemas.openxmlformats.org/officeDocument/2006/relationships/image" Target="../media/image78.png"/><Relationship Id="rId14" Type="http://schemas.openxmlformats.org/officeDocument/2006/relationships/image" Target="../media/image27.svg"/></Relationships>
</file>

<file path=ppt/slides/_rels/slide13.xml.rels><?xml version="1.0" encoding="UTF-8" standalone="yes"?>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9.png"/><Relationship Id="rId3" Type="http://schemas.openxmlformats.org/officeDocument/2006/relationships/image" Target="../media/image23.svg"/><Relationship Id="rId7" Type="http://schemas.openxmlformats.org/officeDocument/2006/relationships/image" Target="../media/image84.jpeg"/><Relationship Id="rId12" Type="http://schemas.openxmlformats.org/officeDocument/2006/relationships/image" Target="../media/image8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jpeg"/><Relationship Id="rId11" Type="http://schemas.openxmlformats.org/officeDocument/2006/relationships/image" Target="../media/image87.png"/><Relationship Id="rId5" Type="http://schemas.openxmlformats.org/officeDocument/2006/relationships/image" Target="../media/image25.svg"/><Relationship Id="rId15" Type="http://schemas.openxmlformats.org/officeDocument/2006/relationships/image" Target="../media/image27.svg"/><Relationship Id="rId10" Type="http://schemas.openxmlformats.org/officeDocument/2006/relationships/image" Target="../media/image86.png"/><Relationship Id="rId4" Type="http://schemas.openxmlformats.org/officeDocument/2006/relationships/image" Target="../media/image24.png"/><Relationship Id="rId9" Type="http://schemas.openxmlformats.org/officeDocument/2006/relationships/image" Target="../media/image85.png"/><Relationship Id="rId14" Type="http://schemas.openxmlformats.org/officeDocument/2006/relationships/image" Target="../media/image26.png"/></Relationships>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94.png"/><Relationship Id="rId1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90.png"/><Relationship Id="rId12" Type="http://schemas.openxmlformats.org/officeDocument/2006/relationships/image" Target="../media/image93.png"/><Relationship Id="rId17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92.png"/><Relationship Id="rId5" Type="http://schemas.openxmlformats.org/officeDocument/2006/relationships/image" Target="../media/image24.png"/><Relationship Id="rId15" Type="http://schemas.openxmlformats.org/officeDocument/2006/relationships/image" Target="../media/image29.png"/><Relationship Id="rId10" Type="http://schemas.openxmlformats.org/officeDocument/2006/relationships/image" Target="../media/image91.png"/><Relationship Id="rId4" Type="http://schemas.openxmlformats.org/officeDocument/2006/relationships/image" Target="../media/image23.svg"/><Relationship Id="rId9" Type="http://schemas.openxmlformats.org/officeDocument/2006/relationships/image" Target="../media/image11.svg"/><Relationship Id="rId14" Type="http://schemas.openxmlformats.org/officeDocument/2006/relationships/image" Target="../media/image95.png"/></Relationships>
</file>

<file path=ppt/slides/_rels/slide15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23.svg"/><Relationship Id="rId11" Type="http://schemas.openxmlformats.org/officeDocument/2006/relationships/image" Target="../media/image97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1000" y="-495300"/>
            <a:ext cx="19050000" cy="111252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000250" y="6442767"/>
            <a:ext cx="3400425" cy="1478756"/>
            <a:chOff x="0" y="0"/>
            <a:chExt cx="4533900" cy="1971675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4533900" cy="1971675"/>
            </a:xfrm>
            <a:custGeom>
              <a:avLst/>
              <a:gdLst/>
              <a:ahLst/>
              <a:cxnLst/>
              <a:rect l="l" t="t" r="r" b="b"/>
              <a:pathLst>
                <a:path w="4533900" h="1971675">
                  <a:moveTo>
                    <a:pt x="0" y="0"/>
                  </a:moveTo>
                  <a:lnTo>
                    <a:pt x="4533900" y="0"/>
                  </a:lnTo>
                  <a:lnTo>
                    <a:pt x="4533900" y="1971675"/>
                  </a:lnTo>
                  <a:lnTo>
                    <a:pt x="0" y="1971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24" b="-72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629275" y="6442767"/>
            <a:ext cx="3400425" cy="1478756"/>
            <a:chOff x="0" y="0"/>
            <a:chExt cx="4533900" cy="1971675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4533900" cy="1971675"/>
            </a:xfrm>
            <a:custGeom>
              <a:avLst/>
              <a:gdLst/>
              <a:ahLst/>
              <a:cxnLst/>
              <a:rect l="l" t="t" r="r" b="b"/>
              <a:pathLst>
                <a:path w="4533900" h="1971675">
                  <a:moveTo>
                    <a:pt x="0" y="0"/>
                  </a:moveTo>
                  <a:lnTo>
                    <a:pt x="4533900" y="0"/>
                  </a:lnTo>
                  <a:lnTo>
                    <a:pt x="4533900" y="1971675"/>
                  </a:lnTo>
                  <a:lnTo>
                    <a:pt x="0" y="1971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24" b="-72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258300" y="6442767"/>
            <a:ext cx="3400425" cy="1478756"/>
            <a:chOff x="0" y="0"/>
            <a:chExt cx="4533900" cy="1971675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4533900" cy="1971675"/>
            </a:xfrm>
            <a:custGeom>
              <a:avLst/>
              <a:gdLst/>
              <a:ahLst/>
              <a:cxnLst/>
              <a:rect l="l" t="t" r="r" b="b"/>
              <a:pathLst>
                <a:path w="4533900" h="1971675">
                  <a:moveTo>
                    <a:pt x="0" y="0"/>
                  </a:moveTo>
                  <a:lnTo>
                    <a:pt x="4533900" y="0"/>
                  </a:lnTo>
                  <a:lnTo>
                    <a:pt x="4533900" y="1971675"/>
                  </a:lnTo>
                  <a:lnTo>
                    <a:pt x="0" y="1971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24" b="-72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887325" y="6442767"/>
            <a:ext cx="3400425" cy="1478756"/>
            <a:chOff x="0" y="0"/>
            <a:chExt cx="4533900" cy="1971675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4533900" cy="1971675"/>
            </a:xfrm>
            <a:custGeom>
              <a:avLst/>
              <a:gdLst/>
              <a:ahLst/>
              <a:cxnLst/>
              <a:rect l="l" t="t" r="r" b="b"/>
              <a:pathLst>
                <a:path w="4533900" h="1971675">
                  <a:moveTo>
                    <a:pt x="0" y="0"/>
                  </a:moveTo>
                  <a:lnTo>
                    <a:pt x="4533900" y="0"/>
                  </a:lnTo>
                  <a:lnTo>
                    <a:pt x="4533900" y="1971675"/>
                  </a:lnTo>
                  <a:lnTo>
                    <a:pt x="0" y="1971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24" b="-72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6" r="-86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941420" y="1616067"/>
            <a:ext cx="228600" cy="200025"/>
            <a:chOff x="0" y="0"/>
            <a:chExt cx="304800" cy="2667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571" b="-357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871538" y="9691688"/>
            <a:ext cx="248602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SnapClass Attendance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87812" y="9691688"/>
            <a:ext cx="6286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01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557588" y="6714230"/>
            <a:ext cx="285750" cy="228600"/>
            <a:chOff x="0" y="0"/>
            <a:chExt cx="381000" cy="3048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125" b="-3125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170271" y="7057130"/>
            <a:ext cx="3060383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Tirtho Mojumdar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43138" y="7352405"/>
            <a:ext cx="2914650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</a:pPr>
            <a:r>
              <a:rPr lang="en-US" sz="1462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2312536042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186612" y="6714230"/>
            <a:ext cx="285750" cy="228600"/>
            <a:chOff x="0" y="0"/>
            <a:chExt cx="381000" cy="3048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125" b="-3125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5799296" y="7057130"/>
            <a:ext cx="3060383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Ramisa Anjum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72162" y="7352405"/>
            <a:ext cx="2914650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</a:pPr>
            <a:r>
              <a:rPr lang="en-US" sz="1462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2232552642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815638" y="6714230"/>
            <a:ext cx="285750" cy="228600"/>
            <a:chOff x="0" y="0"/>
            <a:chExt cx="381000" cy="3048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125" b="-3125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9428321" y="7057130"/>
            <a:ext cx="3060383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Md Rakibul Hasan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01188" y="7352405"/>
            <a:ext cx="2914650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</a:pPr>
            <a:r>
              <a:rPr lang="en-US" sz="1462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2212346042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487525" y="6714230"/>
            <a:ext cx="200025" cy="228600"/>
            <a:chOff x="0" y="0"/>
            <a:chExt cx="266700" cy="3048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125" b="-3125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3057346" y="7057130"/>
            <a:ext cx="3060383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Hafsa Amin Ela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30212" y="7352405"/>
            <a:ext cx="2914650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</a:pPr>
            <a:r>
              <a:rPr lang="en-US" sz="1462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2131884642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16047" y="1625592"/>
            <a:ext cx="5219700" cy="2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CSE445 · SECTION 7 · PROJECT GROUP 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18109" y="2741714"/>
            <a:ext cx="14251781" cy="163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9"/>
              </a:lnSpc>
            </a:pPr>
            <a:r>
              <a:rPr lang="en-US" sz="54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SnapClass:</a:t>
            </a:r>
            <a:r>
              <a:rPr lang="en-US" sz="5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AI-Powered Dual-Modality Classroom Attendance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00462" y="4639627"/>
            <a:ext cx="11753431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549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Real-Time Face &amp; Voice Biometric Verification with Human-in-the-Loop Confirmation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</p:sp>
      </p:grpSp>
      <p:sp>
        <p:nvSpPr>
          <p:cNvPr id="17" name="Freeform 17"/>
          <p:cNvSpPr/>
          <p:nvPr/>
        </p:nvSpPr>
        <p:spPr>
          <a:xfrm>
            <a:off x="922734" y="3328988"/>
            <a:ext cx="5174456" cy="5174456"/>
          </a:xfrm>
          <a:custGeom>
            <a:avLst/>
            <a:gdLst/>
            <a:ahLst/>
            <a:cxnLst/>
            <a:rect l="l" t="t" r="r" b="b"/>
            <a:pathLst>
              <a:path w="5174456" h="5174456">
                <a:moveTo>
                  <a:pt x="0" y="0"/>
                </a:moveTo>
                <a:lnTo>
                  <a:pt x="5174457" y="0"/>
                </a:lnTo>
                <a:lnTo>
                  <a:pt x="5174457" y="5174456"/>
                </a:lnTo>
                <a:lnTo>
                  <a:pt x="0" y="5174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25116" y="3328987"/>
            <a:ext cx="5174456" cy="5174456"/>
            <a:chOff x="0" y="0"/>
            <a:chExt cx="6899275" cy="6899275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6899275" cy="6899275"/>
            </a:xfrm>
            <a:custGeom>
              <a:avLst/>
              <a:gdLst/>
              <a:ahLst/>
              <a:cxnLst/>
              <a:rect l="l" t="t" r="r" b="b"/>
              <a:pathLst>
                <a:path w="6899275" h="6899275">
                  <a:moveTo>
                    <a:pt x="0" y="0"/>
                  </a:moveTo>
                  <a:lnTo>
                    <a:pt x="6899275" y="0"/>
                  </a:lnTo>
                  <a:lnTo>
                    <a:pt x="6899275" y="6899275"/>
                  </a:lnTo>
                  <a:lnTo>
                    <a:pt x="0" y="6899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00" r="-20000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6556772" y="3328987"/>
            <a:ext cx="5174456" cy="5174456"/>
          </a:xfrm>
          <a:custGeom>
            <a:avLst/>
            <a:gdLst/>
            <a:ahLst/>
            <a:cxnLst/>
            <a:rect l="l" t="t" r="r" b="b"/>
            <a:pathLst>
              <a:path w="5174456" h="5174456">
                <a:moveTo>
                  <a:pt x="0" y="0"/>
                </a:moveTo>
                <a:lnTo>
                  <a:pt x="5174456" y="0"/>
                </a:lnTo>
                <a:lnTo>
                  <a:pt x="5174456" y="5174457"/>
                </a:lnTo>
                <a:lnTo>
                  <a:pt x="0" y="51744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6556772" y="3364315"/>
            <a:ext cx="5101828" cy="5174847"/>
            <a:chOff x="0" y="0"/>
            <a:chExt cx="6687861" cy="6783579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6687861" cy="6783580"/>
            </a:xfrm>
            <a:custGeom>
              <a:avLst/>
              <a:gdLst/>
              <a:ahLst/>
              <a:cxnLst/>
              <a:rect l="l" t="t" r="r" b="b"/>
              <a:pathLst>
                <a:path w="6687861" h="6783580">
                  <a:moveTo>
                    <a:pt x="0" y="0"/>
                  </a:moveTo>
                  <a:lnTo>
                    <a:pt x="6687861" y="0"/>
                  </a:lnTo>
                  <a:lnTo>
                    <a:pt x="6687861" y="6783580"/>
                  </a:lnTo>
                  <a:lnTo>
                    <a:pt x="0" y="678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193" r="-21193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2187238" y="3329378"/>
            <a:ext cx="5174456" cy="5174456"/>
          </a:xfrm>
          <a:custGeom>
            <a:avLst/>
            <a:gdLst/>
            <a:ahLst/>
            <a:cxnLst/>
            <a:rect l="l" t="t" r="r" b="b"/>
            <a:pathLst>
              <a:path w="5174456" h="5174456">
                <a:moveTo>
                  <a:pt x="0" y="0"/>
                </a:moveTo>
                <a:lnTo>
                  <a:pt x="5174456" y="0"/>
                </a:lnTo>
                <a:lnTo>
                  <a:pt x="5174456" y="5174456"/>
                </a:lnTo>
                <a:lnTo>
                  <a:pt x="0" y="5174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2187238" y="3328988"/>
            <a:ext cx="5100638" cy="5174456"/>
            <a:chOff x="0" y="0"/>
            <a:chExt cx="6800850" cy="6899275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6800850" cy="6899275"/>
            </a:xfrm>
            <a:custGeom>
              <a:avLst/>
              <a:gdLst/>
              <a:ahLst/>
              <a:cxnLst/>
              <a:rect l="l" t="t" r="r" b="b"/>
              <a:pathLst>
                <a:path w="6800850" h="6899275">
                  <a:moveTo>
                    <a:pt x="0" y="0"/>
                  </a:moveTo>
                  <a:lnTo>
                    <a:pt x="6800850" y="0"/>
                  </a:lnTo>
                  <a:lnTo>
                    <a:pt x="6800850" y="6899275"/>
                  </a:lnTo>
                  <a:lnTo>
                    <a:pt x="0" y="6899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013" r="-21013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6" r="-8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5173325" y="728662"/>
            <a:ext cx="2243138" cy="500062"/>
            <a:chOff x="0" y="0"/>
            <a:chExt cx="2990850" cy="66675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2990850" cy="666750"/>
            </a:xfrm>
            <a:custGeom>
              <a:avLst/>
              <a:gdLst/>
              <a:ahLst/>
              <a:cxnLst/>
              <a:rect l="l" t="t" r="r" b="b"/>
              <a:pathLst>
                <a:path w="2990850" h="666750">
                  <a:moveTo>
                    <a:pt x="0" y="0"/>
                  </a:moveTo>
                  <a:lnTo>
                    <a:pt x="2990850" y="0"/>
                  </a:lnTo>
                  <a:lnTo>
                    <a:pt x="299085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871538" y="1747838"/>
            <a:ext cx="1737217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8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"Can a standard camera &amp; microphone reliably verify attendance — without losing human oversight?"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28725" y="3771900"/>
            <a:ext cx="685800" cy="685800"/>
            <a:chOff x="0" y="0"/>
            <a:chExt cx="914400" cy="9144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6858000" y="3771900"/>
            <a:ext cx="685800" cy="685800"/>
            <a:chOff x="0" y="0"/>
            <a:chExt cx="914400" cy="914400"/>
          </a:xfrm>
        </p:grpSpPr>
        <p:sp>
          <p:nvSpPr>
            <p:cNvPr id="34" name="Freeform 34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041" r="-1041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2487275" y="3771900"/>
            <a:ext cx="685800" cy="685800"/>
            <a:chOff x="0" y="0"/>
            <a:chExt cx="914400" cy="9144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41" r="-1041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2487275" y="4667250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Unverified Records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435894" y="3957638"/>
            <a:ext cx="271462" cy="314325"/>
            <a:chOff x="0" y="0"/>
            <a:chExt cx="361950" cy="419100"/>
          </a:xfrm>
        </p:grpSpPr>
        <p:sp>
          <p:nvSpPr>
            <p:cNvPr id="39" name="Freeform 39" descr="image.png"/>
            <p:cNvSpPr/>
            <p:nvPr/>
          </p:nvSpPr>
          <p:spPr>
            <a:xfrm>
              <a:off x="0" y="0"/>
              <a:ext cx="361950" cy="419100"/>
            </a:xfrm>
            <a:custGeom>
              <a:avLst/>
              <a:gdLst/>
              <a:ahLst/>
              <a:cxnLst/>
              <a:rect l="l" t="t" r="r" b="b"/>
              <a:pathLst>
                <a:path w="361950" h="419100">
                  <a:moveTo>
                    <a:pt x="0" y="0"/>
                  </a:moveTo>
                  <a:lnTo>
                    <a:pt x="361950" y="0"/>
                  </a:lnTo>
                  <a:lnTo>
                    <a:pt x="3619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2631" r="-2631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7065169" y="3957638"/>
            <a:ext cx="271462" cy="314325"/>
            <a:chOff x="0" y="0"/>
            <a:chExt cx="361950" cy="4191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361950" cy="419100"/>
            </a:xfrm>
            <a:custGeom>
              <a:avLst/>
              <a:gdLst/>
              <a:ahLst/>
              <a:cxnLst/>
              <a:rect l="l" t="t" r="r" b="b"/>
              <a:pathLst>
                <a:path w="361950" h="419100">
                  <a:moveTo>
                    <a:pt x="0" y="0"/>
                  </a:moveTo>
                  <a:lnTo>
                    <a:pt x="361950" y="0"/>
                  </a:lnTo>
                  <a:lnTo>
                    <a:pt x="3619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631" r="-2631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2651581" y="3957638"/>
            <a:ext cx="357188" cy="314325"/>
            <a:chOff x="0" y="0"/>
            <a:chExt cx="476250" cy="419100"/>
          </a:xfrm>
        </p:grpSpPr>
        <p:sp>
          <p:nvSpPr>
            <p:cNvPr id="43" name="Freeform 43" descr="image.png"/>
            <p:cNvSpPr/>
            <p:nvPr/>
          </p:nvSpPr>
          <p:spPr>
            <a:xfrm>
              <a:off x="0" y="0"/>
              <a:ext cx="476250" cy="419100"/>
            </a:xfrm>
            <a:custGeom>
              <a:avLst/>
              <a:gdLst/>
              <a:ahLst/>
              <a:cxnLst/>
              <a:rect l="l" t="t" r="r" b="b"/>
              <a:pathLst>
                <a:path w="476250" h="419100">
                  <a:moveTo>
                    <a:pt x="0" y="0"/>
                  </a:moveTo>
                  <a:lnTo>
                    <a:pt x="476250" y="0"/>
                  </a:lnTo>
                  <a:lnTo>
                    <a:pt x="4762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000" r="-2000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t="-367145" b="-33080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90"/>
                </a:lnSpc>
              </a:pPr>
              <a:r>
                <a:rPr lang="en-US" sz="3825" b="1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 | THE PROBLEM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338754" y="-889556"/>
            <a:ext cx="7441042" cy="6590268"/>
            <a:chOff x="0" y="0"/>
            <a:chExt cx="9921390" cy="8787024"/>
          </a:xfrm>
        </p:grpSpPr>
        <p:sp>
          <p:nvSpPr>
            <p:cNvPr id="48" name="Freeform 48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16">
                <a:alphaModFix amt="68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9" name="Group 49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58" name="Freeform 58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68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1" name="Freeform 61"/>
          <p:cNvSpPr/>
          <p:nvPr/>
        </p:nvSpPr>
        <p:spPr>
          <a:xfrm rot="-1947032">
            <a:off x="-34148295" y="55034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54000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3" name="TextBox 63"/>
          <p:cNvSpPr txBox="1"/>
          <p:nvPr/>
        </p:nvSpPr>
        <p:spPr>
          <a:xfrm>
            <a:off x="1228725" y="4667250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Roll Call Wastes Time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23962" y="5653087"/>
            <a:ext cx="4572000" cy="2213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Calling out names aloud consumes 5–10 minutes of every single class period, taking away valuable teaching time from instructors.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487275" y="5653087"/>
            <a:ext cx="4572000" cy="176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Existing digital solutions fail to verify whether the student answering the call is physically present inside the lecture room.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6759238" y="9691688"/>
            <a:ext cx="911349" cy="24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02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858000" y="4667250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874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Proxy Attendance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858000" y="5634037"/>
            <a:ext cx="4572000" cy="2213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Traditional roll calls, paper sign-in sheets, and simple passcode apps make it trivial for students to answer or sign on behalf of absent peers.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579777" y="4876275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16">
                <a:alphaModFix amt="6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61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572214" y="9502140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Tirtho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Mojumdar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·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Ramisa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Anjum · Md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Rakibul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Hasan · Hafsa Amin Ela</a:t>
            </a:r>
          </a:p>
          <a:p>
            <a:pPr algn="l">
              <a:lnSpc>
                <a:spcPts val="2474"/>
              </a:lnSpc>
            </a:pPr>
            <a:endParaRPr lang="en-US" sz="1649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0" y="-9315"/>
            <a:ext cx="18301787" cy="10287000"/>
            <a:chOff x="0" y="0"/>
            <a:chExt cx="24402382" cy="137160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4402382" cy="13716000"/>
            </a:xfrm>
            <a:custGeom>
              <a:avLst/>
              <a:gdLst/>
              <a:ahLst/>
              <a:cxnLst/>
              <a:rect l="l" t="t" r="r" b="b"/>
              <a:pathLst>
                <a:path w="24402382" h="13716000">
                  <a:moveTo>
                    <a:pt x="0" y="0"/>
                  </a:moveTo>
                  <a:lnTo>
                    <a:pt x="24402382" y="0"/>
                  </a:lnTo>
                  <a:lnTo>
                    <a:pt x="2440238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</p:sp>
      </p:grpSp>
      <p:grpSp>
        <p:nvGrpSpPr>
          <p:cNvPr id="18" name="Group 18"/>
          <p:cNvGrpSpPr/>
          <p:nvPr/>
        </p:nvGrpSpPr>
        <p:grpSpPr>
          <a:xfrm>
            <a:off x="15316200" y="728662"/>
            <a:ext cx="2100262" cy="500062"/>
            <a:chOff x="0" y="0"/>
            <a:chExt cx="2800350" cy="6667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2800350" cy="666750"/>
            </a:xfrm>
            <a:custGeom>
              <a:avLst/>
              <a:gdLst/>
              <a:ahLst/>
              <a:cxnLst/>
              <a:rect l="l" t="t" r="r" b="b"/>
              <a:pathLst>
                <a:path w="2800350" h="666750">
                  <a:moveTo>
                    <a:pt x="0" y="0"/>
                  </a:moveTo>
                  <a:lnTo>
                    <a:pt x="2800350" y="0"/>
                  </a:lnTo>
                  <a:lnTo>
                    <a:pt x="280035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19004" y="7696824"/>
            <a:ext cx="685800" cy="685800"/>
            <a:chOff x="0" y="0"/>
            <a:chExt cx="914400" cy="9144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41" r="-104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7145" b="-33080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 | OUR APPROACH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Freeform 27"/>
          <p:cNvSpPr/>
          <p:nvPr/>
        </p:nvSpPr>
        <p:spPr>
          <a:xfrm>
            <a:off x="1371600" y="7727068"/>
            <a:ext cx="556526" cy="625311"/>
          </a:xfrm>
          <a:custGeom>
            <a:avLst/>
            <a:gdLst/>
            <a:ahLst/>
            <a:cxnLst/>
            <a:rect l="l" t="t" r="r" b="b"/>
            <a:pathLst>
              <a:path w="556526" h="625311">
                <a:moveTo>
                  <a:pt x="0" y="0"/>
                </a:moveTo>
                <a:lnTo>
                  <a:pt x="556526" y="0"/>
                </a:lnTo>
                <a:lnTo>
                  <a:pt x="556526" y="625311"/>
                </a:lnTo>
                <a:lnTo>
                  <a:pt x="0" y="6253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00874" y="5532229"/>
            <a:ext cx="532445" cy="719520"/>
          </a:xfrm>
          <a:custGeom>
            <a:avLst/>
            <a:gdLst/>
            <a:ahLst/>
            <a:cxnLst/>
            <a:rect l="l" t="t" r="r" b="b"/>
            <a:pathLst>
              <a:path w="532445" h="719520">
                <a:moveTo>
                  <a:pt x="0" y="0"/>
                </a:moveTo>
                <a:lnTo>
                  <a:pt x="532444" y="0"/>
                </a:lnTo>
                <a:lnTo>
                  <a:pt x="532444" y="719519"/>
                </a:lnTo>
                <a:lnTo>
                  <a:pt x="0" y="719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49866" y="3140393"/>
            <a:ext cx="834460" cy="680085"/>
          </a:xfrm>
          <a:custGeom>
            <a:avLst/>
            <a:gdLst/>
            <a:ahLst/>
            <a:cxnLst/>
            <a:rect l="l" t="t" r="r" b="b"/>
            <a:pathLst>
              <a:path w="834460" h="680085">
                <a:moveTo>
                  <a:pt x="0" y="0"/>
                </a:moveTo>
                <a:lnTo>
                  <a:pt x="834460" y="0"/>
                </a:lnTo>
                <a:lnTo>
                  <a:pt x="834460" y="680085"/>
                </a:lnTo>
                <a:lnTo>
                  <a:pt x="0" y="6800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71538" y="1747838"/>
            <a:ext cx="1654492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0"/>
              </a:lnSpc>
              <a:spcBef>
                <a:spcPct val="0"/>
              </a:spcBef>
            </a:pPr>
            <a:r>
              <a:rPr lang="en-US" sz="2850" u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Combining dual biometric recognition pipelines with instructor control for fraud-proof attendance tracking.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759238" y="9691688"/>
            <a:ext cx="795838" cy="24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83762" y="3275648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874" b="1">
                <a:solidFill>
                  <a:srgbClr val="0F1D2D"/>
                </a:solidFill>
                <a:latin typeface="Poppins Bold"/>
                <a:ea typeface="Poppins Bold"/>
                <a:cs typeface="Poppins Bold"/>
                <a:sym typeface="Poppins Bold"/>
              </a:rPr>
              <a:t>Face Recognition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76172" y="3351847"/>
            <a:ext cx="11063722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Captures classroom frame via webcam to identify student facial features using high-precision 128-dimensional vector embeddings.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84326" y="5692617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0F1D2D"/>
                </a:solidFill>
                <a:latin typeface="Poppins Bold"/>
                <a:ea typeface="Poppins Bold"/>
                <a:cs typeface="Poppins Bold"/>
                <a:sym typeface="Poppins Bold"/>
              </a:rPr>
              <a:t>Voice Recognition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76172" y="5465554"/>
            <a:ext cx="10740291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Analyzes speech audio snippets as an active secondary biometric to verify student presence in dynamic environment conditions.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83762" y="7834936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0F1D2D"/>
                </a:solidFill>
                <a:latin typeface="Poppins Bold"/>
                <a:ea typeface="Poppins Bold"/>
                <a:cs typeface="Poppins Bold"/>
                <a:sym typeface="Poppins Bold"/>
              </a:rPr>
              <a:t>Human Confirmation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70699" y="7694119"/>
            <a:ext cx="10745764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Presents instant AI suggestions to the instructor with visual/audio evidence before committing any record permanently to the DB.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436635" y="-1069020"/>
            <a:ext cx="7441042" cy="6567166"/>
            <a:chOff x="0" y="0"/>
            <a:chExt cx="9921390" cy="8756221"/>
          </a:xfrm>
        </p:grpSpPr>
        <p:sp>
          <p:nvSpPr>
            <p:cNvPr id="39" name="Freeform 39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11">
                <a:alphaModFix amt="68000"/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0" name="Group 40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49" name="Freeform 49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68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0" name="Freeform 50"/>
          <p:cNvSpPr/>
          <p:nvPr/>
        </p:nvSpPr>
        <p:spPr>
          <a:xfrm rot="-1947032">
            <a:off x="-34148295" y="55034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1" name="TextBox 51"/>
          <p:cNvSpPr txBox="1"/>
          <p:nvPr/>
        </p:nvSpPr>
        <p:spPr>
          <a:xfrm>
            <a:off x="871538" y="9605010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Tirtho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Mojumdar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·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Ramisa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Anjum · Md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Rakibul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Hasan · Hafsa Amin Ela</a:t>
            </a:r>
          </a:p>
          <a:p>
            <a:pPr algn="l">
              <a:lnSpc>
                <a:spcPts val="2474"/>
              </a:lnSpc>
            </a:pPr>
            <a:endParaRPr lang="en-US" sz="1649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-1543510" y="4764348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11">
                <a:alphaModFix amt="61000"/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61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86" r="-8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0" y="39186"/>
            <a:ext cx="18288000" cy="10287000"/>
            <a:chOff x="10160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5" name="Freeform 15" descr="image.png"/>
            <p:cNvSpPr/>
            <p:nvPr/>
          </p:nvSpPr>
          <p:spPr>
            <a:xfrm>
              <a:off x="10160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" r="-86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959012" y="728662"/>
            <a:ext cx="2457450" cy="500062"/>
            <a:chOff x="0" y="0"/>
            <a:chExt cx="3276600" cy="6667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276600" cy="666750"/>
            </a:xfrm>
            <a:custGeom>
              <a:avLst/>
              <a:gdLst/>
              <a:ahLst/>
              <a:cxnLst/>
              <a:rect l="l" t="t" r="r" b="b"/>
              <a:pathLst>
                <a:path w="3276600" h="666750">
                  <a:moveTo>
                    <a:pt x="0" y="0"/>
                  </a:moveTo>
                  <a:lnTo>
                    <a:pt x="3276600" y="0"/>
                  </a:lnTo>
                  <a:lnTo>
                    <a:pt x="32766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6759238" y="9691688"/>
            <a:ext cx="842043" cy="49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04</a:t>
            </a:r>
          </a:p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endParaRPr lang="en-US" sz="135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28775" y="1966912"/>
            <a:ext cx="7396639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 lang="en-US" sz="2874" b="1" u="none" strike="noStrike" dirty="0">
              <a:solidFill>
                <a:srgbClr val="0F1D2D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53794" y="1596704"/>
            <a:ext cx="8283653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Webcam &amp; Mic Input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399" u="none" strike="noStrike" dirty="0" err="1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 frontend captures real-time video snapshot &amp; voice wave.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43130" y="1857375"/>
            <a:ext cx="8058150" cy="5429250"/>
            <a:chOff x="0" y="0"/>
            <a:chExt cx="10744200" cy="72390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10744200" cy="7239000"/>
            </a:xfrm>
            <a:custGeom>
              <a:avLst/>
              <a:gdLst/>
              <a:ahLst/>
              <a:cxnLst/>
              <a:rect l="l" t="t" r="r" b="b"/>
              <a:pathLst>
                <a:path w="10744200" h="7239000">
                  <a:moveTo>
                    <a:pt x="0" y="0"/>
                  </a:moveTo>
                  <a:lnTo>
                    <a:pt x="10744200" y="0"/>
                  </a:lnTo>
                  <a:lnTo>
                    <a:pt x="107442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1000"/>
              </a:blip>
              <a:stretch>
                <a:fillRect l="-88" r="-88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686531" y="2759001"/>
            <a:ext cx="8145040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Feature Extractor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Python backend calculates Euclidean distance between embeddings.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98082" y="4016412"/>
            <a:ext cx="8029529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Matching Engine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Compares live vectors against stored </a:t>
            </a:r>
            <a:r>
              <a:rPr lang="en-US" sz="2399" u="none" strike="noStrike" dirty="0" err="1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Supabase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 student profiles.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59894" y="5249500"/>
            <a:ext cx="8145040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Database Persistence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Teacher confirmation writes attendance log directly to SQL table using </a:t>
            </a:r>
            <a:r>
              <a:rPr lang="en-US" sz="2399" u="none" strike="noStrike" dirty="0" err="1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Supabase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46863" y="1642224"/>
            <a:ext cx="400050" cy="457200"/>
            <a:chOff x="0" y="0"/>
            <a:chExt cx="266700" cy="30480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7145" b="-33080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 dirty="0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 | SYSTEM ARCHITECTURE 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044372" y="2802664"/>
            <a:ext cx="400050" cy="457200"/>
            <a:chOff x="0" y="0"/>
            <a:chExt cx="266700" cy="304800"/>
          </a:xfrm>
        </p:grpSpPr>
        <p:sp>
          <p:nvSpPr>
            <p:cNvPr id="39" name="Freeform 39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088464" y="4045371"/>
            <a:ext cx="400050" cy="457200"/>
            <a:chOff x="0" y="0"/>
            <a:chExt cx="266700" cy="3048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074721" y="5258312"/>
            <a:ext cx="400050" cy="457200"/>
            <a:chOff x="0" y="0"/>
            <a:chExt cx="266700" cy="304800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3038717" y="-1289006"/>
            <a:ext cx="7441042" cy="6567166"/>
            <a:chOff x="0" y="0"/>
            <a:chExt cx="9921390" cy="8756221"/>
          </a:xfrm>
        </p:grpSpPr>
        <p:sp>
          <p:nvSpPr>
            <p:cNvPr id="47" name="Freeform 47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7">
                <a:alphaModFix amt="68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8" name="Group 48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57" name="Freeform 57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8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8" name="Freeform 58"/>
          <p:cNvSpPr/>
          <p:nvPr/>
        </p:nvSpPr>
        <p:spPr>
          <a:xfrm rot="-1947032">
            <a:off x="-35452156" y="5234461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" name="Group 2"/>
          <p:cNvGrpSpPr/>
          <p:nvPr/>
        </p:nvGrpSpPr>
        <p:grpSpPr>
          <a:xfrm>
            <a:off x="-1632425" y="4633085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7">
                <a:alphaModFix amt="61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61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9" name="TextBox 59"/>
          <p:cNvSpPr txBox="1"/>
          <p:nvPr/>
        </p:nvSpPr>
        <p:spPr>
          <a:xfrm>
            <a:off x="457914" y="9780271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61" name="Picture 6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423D94-92D7-CE2E-9DE5-F5821D7155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00" b="26585"/>
          <a:stretch/>
        </p:blipFill>
        <p:spPr>
          <a:xfrm>
            <a:off x="1088463" y="6378204"/>
            <a:ext cx="8699612" cy="3313484"/>
          </a:xfrm>
          <a:prstGeom prst="rect">
            <a:avLst/>
          </a:prstGeom>
        </p:spPr>
      </p:pic>
      <p:pic>
        <p:nvPicPr>
          <p:cNvPr id="63" name="Picture 6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E3E948-8D1E-EE7E-3AF8-562D51C0964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5677730"/>
            <a:ext cx="7292556" cy="4102063"/>
          </a:xfrm>
          <a:prstGeom prst="rect">
            <a:avLst/>
          </a:prstGeom>
        </p:spPr>
      </p:pic>
      <p:pic>
        <p:nvPicPr>
          <p:cNvPr id="67" name="Picture 6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216B9E-385C-05F8-03A7-2321E87D287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235" y="1849592"/>
            <a:ext cx="7287526" cy="34761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0" y="-34376"/>
            <a:ext cx="18288000" cy="10287000"/>
            <a:chOff x="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044738" y="728662"/>
            <a:ext cx="2371725" cy="500062"/>
            <a:chOff x="0" y="0"/>
            <a:chExt cx="3162300" cy="66675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162300" cy="666750"/>
            </a:xfrm>
            <a:custGeom>
              <a:avLst/>
              <a:gdLst/>
              <a:ahLst/>
              <a:cxnLst/>
              <a:rect l="l" t="t" r="r" b="b"/>
              <a:pathLst>
                <a:path w="3162300" h="666750">
                  <a:moveTo>
                    <a:pt x="0" y="0"/>
                  </a:moveTo>
                  <a:lnTo>
                    <a:pt x="3162300" y="0"/>
                  </a:lnTo>
                  <a:lnTo>
                    <a:pt x="31623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6744950" y="9691688"/>
            <a:ext cx="1064250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</a:t>
            </a:r>
            <a:r>
              <a:rPr lang="en-US" sz="135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  <a:endParaRPr lang="en-US" sz="135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57" name="Group 57"/>
          <p:cNvGrpSpPr/>
          <p:nvPr/>
        </p:nvGrpSpPr>
        <p:grpSpPr>
          <a:xfrm>
            <a:off x="871537" y="748007"/>
            <a:ext cx="16654463" cy="847132"/>
            <a:chOff x="0" y="-50009"/>
            <a:chExt cx="22205951" cy="1129509"/>
          </a:xfrm>
        </p:grpSpPr>
        <p:sp>
          <p:nvSpPr>
            <p:cNvPr id="58" name="Freeform 58"/>
            <p:cNvSpPr/>
            <p:nvPr/>
          </p:nvSpPr>
          <p:spPr>
            <a:xfrm>
              <a:off x="146051" y="0"/>
              <a:ext cx="22059900" cy="1079500"/>
            </a:xfrm>
            <a:custGeom>
              <a:avLst/>
              <a:gdLst/>
              <a:ahLst/>
              <a:cxnLst/>
              <a:rect l="l" t="t" r="r" b="b"/>
              <a:pathLst>
                <a:path w="22059900" h="1079500">
                  <a:moveTo>
                    <a:pt x="0" y="0"/>
                  </a:moveTo>
                  <a:lnTo>
                    <a:pt x="22059900" y="0"/>
                  </a:lnTo>
                  <a:lnTo>
                    <a:pt x="22059900" y="1079500"/>
                  </a:lnTo>
                  <a:lnTo>
                    <a:pt x="0" y="1079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6417" b="-32994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50009"/>
              <a:ext cx="22059900" cy="1069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 dirty="0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 | BIOMETRIC FACE PIPELINE (PART 1)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3479873" y="-1166919"/>
            <a:ext cx="7441042" cy="6567166"/>
            <a:chOff x="0" y="0"/>
            <a:chExt cx="9921390" cy="8756221"/>
          </a:xfrm>
        </p:grpSpPr>
        <p:sp>
          <p:nvSpPr>
            <p:cNvPr id="63" name="Freeform 63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5">
                <a:alphaModFix amt="68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4" name="Group 64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73" name="Freeform 73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8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74" name="Freeform 74"/>
          <p:cNvSpPr/>
          <p:nvPr/>
        </p:nvSpPr>
        <p:spPr>
          <a:xfrm rot="-1947032">
            <a:off x="-34735166" y="4985895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1663121" y="4774512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5">
                <a:alphaModFix amt="61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1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75" name="TextBox 75"/>
          <p:cNvSpPr txBox="1"/>
          <p:nvPr/>
        </p:nvSpPr>
        <p:spPr>
          <a:xfrm>
            <a:off x="557570" y="9605010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Tirtho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Mojumdar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·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Ramisa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Anjum · Md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Rakibul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Hasan · Hafsa Amin Ela</a:t>
            </a:r>
          </a:p>
          <a:p>
            <a:pPr algn="l">
              <a:lnSpc>
                <a:spcPts val="2474"/>
              </a:lnSpc>
            </a:pPr>
            <a:endParaRPr lang="en-US" sz="1649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23214" y="9152452"/>
            <a:ext cx="16544925" cy="414338"/>
            <a:chOff x="-64432" y="-560230"/>
            <a:chExt cx="22059900" cy="55245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-64432" y="-56023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86" r="-86"/>
              </a:stretch>
            </a:blipFill>
          </p:spPr>
        </p:sp>
      </p:grpSp>
      <p:pic>
        <p:nvPicPr>
          <p:cNvPr id="79" name="Picture 78" descr="A dot to dot game&#10;&#10;AI-generated content may be incorrect.">
            <a:extLst>
              <a:ext uri="{FF2B5EF4-FFF2-40B4-BE49-F238E27FC236}">
                <a16:creationId xmlns:a16="http://schemas.microsoft.com/office/drawing/2014/main" id="{8A57C0D0-EB92-D61A-E5BD-40DFE0CC01B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7" y="2173180"/>
            <a:ext cx="4757320" cy="4465204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F66FE412-19AA-75F9-1B17-EACEDBE2AA1E}"/>
              </a:ext>
            </a:extLst>
          </p:cNvPr>
          <p:cNvSpPr txBox="1"/>
          <p:nvPr/>
        </p:nvSpPr>
        <p:spPr>
          <a:xfrm>
            <a:off x="973699" y="1642487"/>
            <a:ext cx="6853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Inter Bold" panose="020B0604020202020204" charset="0"/>
                <a:ea typeface="Inter Bold" panose="020B0604020202020204" charset="0"/>
              </a:rPr>
              <a:t>68 landmarks locate eyes, nose, jaw &amp; brows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B4AE9E-ACA1-D950-5411-14A4DF20E895}"/>
              </a:ext>
            </a:extLst>
          </p:cNvPr>
          <p:cNvSpPr txBox="1"/>
          <p:nvPr/>
        </p:nvSpPr>
        <p:spPr>
          <a:xfrm>
            <a:off x="9076512" y="1709212"/>
            <a:ext cx="7497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Inter Bold" panose="020B0604020202020204" charset="0"/>
                <a:ea typeface="Inter Bold" panose="020B0604020202020204" charset="0"/>
              </a:rPr>
              <a:t>Face → Detect → Landmarks → 128-D Embedding</a:t>
            </a:r>
          </a:p>
        </p:txBody>
      </p:sp>
      <p:pic>
        <p:nvPicPr>
          <p:cNvPr id="85" name="Picture 8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79EB6A-D65F-3C72-1B3B-4B6298991F9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847" y="2314340"/>
            <a:ext cx="5930891" cy="3063907"/>
          </a:xfrm>
          <a:prstGeom prst="rect">
            <a:avLst/>
          </a:prstGeom>
        </p:spPr>
      </p:pic>
      <p:pic>
        <p:nvPicPr>
          <p:cNvPr id="87" name="Picture 8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68071518-5A91-1739-812A-CAE4647C116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757" y="5695694"/>
            <a:ext cx="7417507" cy="2828649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C396B5AF-8D39-CDBA-01D0-F6273B667CC7}"/>
              </a:ext>
            </a:extLst>
          </p:cNvPr>
          <p:cNvSpPr txBox="1"/>
          <p:nvPr/>
        </p:nvSpPr>
        <p:spPr>
          <a:xfrm>
            <a:off x="1015997" y="7088462"/>
            <a:ext cx="71507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The </a:t>
            </a:r>
            <a:r>
              <a:rPr lang="en-US" sz="24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dlib</a:t>
            </a:r>
            <a:r>
              <a:rPr 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finds the face, locates 68 landmark points to align it, then a </a:t>
            </a:r>
            <a:r>
              <a:rPr lang="en-US" sz="24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ResNet</a:t>
            </a:r>
            <a:r>
              <a:rPr lang="en-US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turns the aligned face into a 128-number fingerprint — this is the same fingerprint for the same person, every time."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-65048" y="-9660"/>
            <a:ext cx="18288000" cy="10287000"/>
            <a:chOff x="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7" name="Group 27"/>
          <p:cNvGrpSpPr/>
          <p:nvPr/>
        </p:nvGrpSpPr>
        <p:grpSpPr>
          <a:xfrm>
            <a:off x="15044738" y="728662"/>
            <a:ext cx="2371725" cy="500062"/>
            <a:chOff x="0" y="0"/>
            <a:chExt cx="3162300" cy="66675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162300" cy="666750"/>
            </a:xfrm>
            <a:custGeom>
              <a:avLst/>
              <a:gdLst/>
              <a:ahLst/>
              <a:cxnLst/>
              <a:rect l="l" t="t" r="r" b="b"/>
              <a:pathLst>
                <a:path w="3162300" h="666750">
                  <a:moveTo>
                    <a:pt x="0" y="0"/>
                  </a:moveTo>
                  <a:lnTo>
                    <a:pt x="3162300" y="0"/>
                  </a:lnTo>
                  <a:lnTo>
                    <a:pt x="31623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6744950" y="9691688"/>
            <a:ext cx="1064250" cy="49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06</a:t>
            </a:r>
          </a:p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endParaRPr lang="en-US" sz="135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57" name="Group 57"/>
          <p:cNvGrpSpPr/>
          <p:nvPr/>
        </p:nvGrpSpPr>
        <p:grpSpPr>
          <a:xfrm>
            <a:off x="871537" y="748007"/>
            <a:ext cx="16544925" cy="847132"/>
            <a:chOff x="0" y="-50009"/>
            <a:chExt cx="22059900" cy="112950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059900" cy="1079500"/>
            </a:xfrm>
            <a:custGeom>
              <a:avLst/>
              <a:gdLst/>
              <a:ahLst/>
              <a:cxnLst/>
              <a:rect l="l" t="t" r="r" b="b"/>
              <a:pathLst>
                <a:path w="22059900" h="1079500">
                  <a:moveTo>
                    <a:pt x="0" y="0"/>
                  </a:moveTo>
                  <a:lnTo>
                    <a:pt x="22059900" y="0"/>
                  </a:lnTo>
                  <a:lnTo>
                    <a:pt x="22059900" y="1079500"/>
                  </a:lnTo>
                  <a:lnTo>
                    <a:pt x="0" y="1079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6417" b="-32994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50009"/>
              <a:ext cx="22059900" cy="1069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 dirty="0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 | BIOMETRIC FACE PIPELINE CODE</a:t>
              </a:r>
              <a:r>
                <a:rPr lang="en-US" sz="3825" b="1" dirty="0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(PART 2)</a:t>
              </a:r>
              <a:endParaRPr lang="en-US" sz="3825" b="1" u="none" strike="noStrike" dirty="0">
                <a:solidFill>
                  <a:srgbClr val="757575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3479873" y="-1166919"/>
            <a:ext cx="7441042" cy="6567166"/>
            <a:chOff x="0" y="0"/>
            <a:chExt cx="9921390" cy="8756221"/>
          </a:xfrm>
        </p:grpSpPr>
        <p:sp>
          <p:nvSpPr>
            <p:cNvPr id="63" name="Freeform 63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5">
                <a:alphaModFix amt="68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4" name="Group 64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73" name="Freeform 73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8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74" name="Freeform 74"/>
          <p:cNvSpPr/>
          <p:nvPr/>
        </p:nvSpPr>
        <p:spPr>
          <a:xfrm rot="-1947032">
            <a:off x="-34042880" y="4779484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1663121" y="4774512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5">
                <a:alphaModFix amt="61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1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75" name="TextBox 75"/>
          <p:cNvSpPr txBox="1"/>
          <p:nvPr/>
        </p:nvSpPr>
        <p:spPr>
          <a:xfrm>
            <a:off x="556930" y="9655369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Tirtho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Mojumdar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·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Ramisa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Anjum · Md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Rakibul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Hasan · Hafsa Amin Ela</a:t>
            </a:r>
          </a:p>
          <a:p>
            <a:pPr algn="l">
              <a:lnSpc>
                <a:spcPts val="2474"/>
              </a:lnSpc>
            </a:pPr>
            <a:endParaRPr lang="en-US" sz="1649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41384" y="8869399"/>
            <a:ext cx="16544925" cy="414338"/>
            <a:chOff x="-40205" y="-937634"/>
            <a:chExt cx="22059900" cy="55245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-40205" y="-937634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86" r="-86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F66FE412-19AA-75F9-1B17-EACEDBE2AA1E}"/>
              </a:ext>
            </a:extLst>
          </p:cNvPr>
          <p:cNvSpPr txBox="1"/>
          <p:nvPr/>
        </p:nvSpPr>
        <p:spPr>
          <a:xfrm>
            <a:off x="973699" y="1642487"/>
            <a:ext cx="7396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Inter Bold" panose="020B0604020202020204" charset="0"/>
                <a:ea typeface="Inter Bold" panose="020B0604020202020204" charset="0"/>
              </a:rPr>
              <a:t>Classifier retrains on every enrolled student, live</a:t>
            </a:r>
            <a:endParaRPr lang="en-US" sz="2400" b="1" dirty="0">
              <a:solidFill>
                <a:srgbClr val="002060"/>
              </a:solidFill>
              <a:latin typeface="Inter Bold" panose="020B0604020202020204" charset="0"/>
              <a:ea typeface="Inter Bold" panose="020B060402020202020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B4AE9E-ACA1-D950-5411-14A4DF20E895}"/>
              </a:ext>
            </a:extLst>
          </p:cNvPr>
          <p:cNvSpPr txBox="1"/>
          <p:nvPr/>
        </p:nvSpPr>
        <p:spPr>
          <a:xfrm>
            <a:off x="819123" y="4463721"/>
            <a:ext cx="8613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Inter Bold" panose="020B0604020202020204" charset="0"/>
                <a:ea typeface="Inter Bold" panose="020B0604020202020204" charset="0"/>
              </a:rPr>
              <a:t>Captured straight from the browser — no extra hardware</a:t>
            </a:r>
            <a:endParaRPr lang="en-US" sz="2400" b="1" dirty="0">
              <a:latin typeface="Inter Bold" panose="020B0604020202020204" charset="0"/>
              <a:ea typeface="Inter Bold" panose="020B0604020202020204" charset="0"/>
            </a:endParaRPr>
          </a:p>
        </p:txBody>
      </p:sp>
      <p:pic>
        <p:nvPicPr>
          <p:cNvPr id="18" name="Picture 1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21D4E55-6017-94F5-4D12-E2929E99581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37" y="2194904"/>
            <a:ext cx="10056129" cy="2140856"/>
          </a:xfrm>
          <a:prstGeom prst="rect">
            <a:avLst/>
          </a:prstGeom>
        </p:spPr>
      </p:pic>
      <p:pic>
        <p:nvPicPr>
          <p:cNvPr id="20" name="Picture 19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52EA7B43-980E-92E7-5B3D-5E82A0EB3C1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7" y="5050343"/>
            <a:ext cx="5976064" cy="450430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07D3FA-72C7-2959-43B8-D44BF441763E}"/>
              </a:ext>
            </a:extLst>
          </p:cNvPr>
          <p:cNvSpPr txBox="1"/>
          <p:nvPr/>
        </p:nvSpPr>
        <p:spPr>
          <a:xfrm>
            <a:off x="10210800" y="5709555"/>
            <a:ext cx="7010400" cy="315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AE489A70-819E-E966-D34A-1E4A11491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910" y="6073854"/>
            <a:ext cx="96773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The 128 numbers go into a linear SVM trained on every enrolled student's fingerprint — that's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get_trained_mdel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() right here, retrained fresh every time someone new registers. And the actual capture is one line: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st.camera_input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, right from the student's own webcam.</a:t>
            </a:r>
          </a:p>
        </p:txBody>
      </p:sp>
    </p:spTree>
    <p:extLst>
      <p:ext uri="{BB962C8B-B14F-4D97-AF65-F5344CB8AC3E}">
        <p14:creationId xmlns:p14="http://schemas.microsoft.com/office/powerpoint/2010/main" val="401028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-30154" y="-29901"/>
            <a:ext cx="18288000" cy="10287000"/>
            <a:chOff x="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7" name="Group 27"/>
          <p:cNvGrpSpPr/>
          <p:nvPr/>
        </p:nvGrpSpPr>
        <p:grpSpPr>
          <a:xfrm>
            <a:off x="15044738" y="728662"/>
            <a:ext cx="2371725" cy="500062"/>
            <a:chOff x="0" y="0"/>
            <a:chExt cx="3162300" cy="66675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162300" cy="666750"/>
            </a:xfrm>
            <a:custGeom>
              <a:avLst/>
              <a:gdLst/>
              <a:ahLst/>
              <a:cxnLst/>
              <a:rect l="l" t="t" r="r" b="b"/>
              <a:pathLst>
                <a:path w="3162300" h="666750">
                  <a:moveTo>
                    <a:pt x="0" y="0"/>
                  </a:moveTo>
                  <a:lnTo>
                    <a:pt x="3162300" y="0"/>
                  </a:lnTo>
                  <a:lnTo>
                    <a:pt x="31623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6744950" y="9691688"/>
            <a:ext cx="1064250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0</a:t>
            </a:r>
            <a:r>
              <a:rPr lang="en-US" sz="135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  <a:endParaRPr lang="en-US" sz="1350" b="1" u="none" strike="noStrike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57" name="Group 57"/>
          <p:cNvGrpSpPr/>
          <p:nvPr/>
        </p:nvGrpSpPr>
        <p:grpSpPr>
          <a:xfrm>
            <a:off x="871537" y="748007"/>
            <a:ext cx="16544925" cy="847132"/>
            <a:chOff x="0" y="-50009"/>
            <a:chExt cx="22059900" cy="112950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059900" cy="1079500"/>
            </a:xfrm>
            <a:custGeom>
              <a:avLst/>
              <a:gdLst/>
              <a:ahLst/>
              <a:cxnLst/>
              <a:rect l="l" t="t" r="r" b="b"/>
              <a:pathLst>
                <a:path w="22059900" h="1079500">
                  <a:moveTo>
                    <a:pt x="0" y="0"/>
                  </a:moveTo>
                  <a:lnTo>
                    <a:pt x="22059900" y="0"/>
                  </a:lnTo>
                  <a:lnTo>
                    <a:pt x="22059900" y="1079500"/>
                  </a:lnTo>
                  <a:lnTo>
                    <a:pt x="0" y="1079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6417" b="-32994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50009"/>
              <a:ext cx="22059900" cy="1069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 dirty="0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 | </a:t>
              </a:r>
              <a:r>
                <a:rPr lang="en-US" sz="3825" b="1" dirty="0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BIOMETRIC </a:t>
              </a:r>
              <a:r>
                <a:rPr lang="en-US" sz="3825" b="1" u="none" strike="noStrike" dirty="0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VOICE PIPELINE 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3479873" y="-1166919"/>
            <a:ext cx="7441042" cy="6567166"/>
            <a:chOff x="0" y="0"/>
            <a:chExt cx="9921390" cy="8756221"/>
          </a:xfrm>
        </p:grpSpPr>
        <p:sp>
          <p:nvSpPr>
            <p:cNvPr id="63" name="Freeform 63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5">
                <a:alphaModFix amt="68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4" name="Group 64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73" name="Freeform 73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8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74" name="Freeform 74"/>
          <p:cNvSpPr/>
          <p:nvPr/>
        </p:nvSpPr>
        <p:spPr>
          <a:xfrm rot="-1947032">
            <a:off x="-34735166" y="4985895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1663121" y="4774512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5">
                <a:alphaModFix amt="61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1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75" name="TextBox 75"/>
          <p:cNvSpPr txBox="1"/>
          <p:nvPr/>
        </p:nvSpPr>
        <p:spPr>
          <a:xfrm>
            <a:off x="556930" y="9655369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Tirtho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Mojumdar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·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Ramisa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Anjum · Md </a:t>
            </a:r>
            <a:r>
              <a:rPr lang="en-US" sz="164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Rakibul</a:t>
            </a:r>
            <a:r>
              <a:rPr lang="en-US" sz="164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Hasan · Hafsa Amin Ela</a:t>
            </a:r>
          </a:p>
          <a:p>
            <a:pPr algn="l">
              <a:lnSpc>
                <a:spcPts val="2474"/>
              </a:lnSpc>
            </a:pPr>
            <a:endParaRPr lang="en-US" sz="1649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41384" y="8869399"/>
            <a:ext cx="16544925" cy="414338"/>
            <a:chOff x="-40205" y="-937634"/>
            <a:chExt cx="22059900" cy="55245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-40205" y="-937634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86" r="-86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607D3FA-72C7-2959-43B8-D44BF441763E}"/>
              </a:ext>
            </a:extLst>
          </p:cNvPr>
          <p:cNvSpPr txBox="1"/>
          <p:nvPr/>
        </p:nvSpPr>
        <p:spPr>
          <a:xfrm>
            <a:off x="10073173" y="6487193"/>
            <a:ext cx="7010400" cy="315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AE489A70-819E-E966-D34A-1E4A11491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910" y="6627851"/>
            <a:ext cx="96773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pic>
        <p:nvPicPr>
          <p:cNvPr id="22" name="Picture 21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D42BFF64-A5C2-566A-DE73-F644F70E79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7" y="2344227"/>
            <a:ext cx="7053263" cy="3261397"/>
          </a:xfrm>
          <a:prstGeom prst="rect">
            <a:avLst/>
          </a:prstGeom>
        </p:spPr>
      </p:pic>
      <p:sp>
        <p:nvSpPr>
          <p:cNvPr id="31" name="Rectangle 2">
            <a:extLst>
              <a:ext uri="{FF2B5EF4-FFF2-40B4-BE49-F238E27FC236}">
                <a16:creationId xmlns:a16="http://schemas.microsoft.com/office/drawing/2014/main" id="{A9A755A9-14DE-53C1-7661-ED132852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691" y="1639182"/>
            <a:ext cx="73584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Bold" panose="020B0604020202020204" charset="0"/>
                <a:ea typeface="Inter Bold" panose="020B0604020202020204" charset="0"/>
              </a:rPr>
              <a:t>Voice clip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 Bold" panose="020B0604020202020204" charset="0"/>
                <a:ea typeface="Inter Bold" panose="020B0604020202020204" charset="0"/>
              </a:rPr>
              <a:t>Resemblyzer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Bold" panose="020B0604020202020204" charset="0"/>
                <a:ea typeface="Inter Bold" panose="020B0604020202020204" charset="0"/>
              </a:rPr>
              <a:t> → speaker embedding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 Bold" panose="020B0604020202020204" charset="0"/>
              <a:ea typeface="Inter Bold" panose="020B0604020202020204" charset="0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E163B0AF-6E46-8E70-734A-8F7BE6E46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8534" y="1530338"/>
            <a:ext cx="744104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 Bold" panose="020B0604020202020204" charset="0"/>
                <a:ea typeface="Inter Bold" panose="020B0604020202020204" charset="0"/>
              </a:rPr>
              <a:t>librosa.effects.split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Bold" panose="020B0604020202020204" charset="0"/>
                <a:ea typeface="Inter Bold" panose="020B0604020202020204" charset="0"/>
              </a:rPr>
              <a:t>() cuts one recording into who's-speaking segments </a:t>
            </a:r>
          </a:p>
        </p:txBody>
      </p:sp>
      <p:pic>
        <p:nvPicPr>
          <p:cNvPr id="34" name="Picture 3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CF5EE302-BF88-A3B3-2EAE-7379942105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148" y="2456667"/>
            <a:ext cx="6889714" cy="320099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27C93C7-605E-7BAC-2E50-BF046D39A7EE}"/>
              </a:ext>
            </a:extLst>
          </p:cNvPr>
          <p:cNvSpPr txBox="1"/>
          <p:nvPr/>
        </p:nvSpPr>
        <p:spPr>
          <a:xfrm>
            <a:off x="802223" y="5703539"/>
            <a:ext cx="59626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Inter Bold" panose="020B0604020202020204" charset="0"/>
                <a:ea typeface="Inter Bold" panose="020B0604020202020204" charset="0"/>
              </a:rPr>
              <a:t>Same idea as face matching: compare fingerprints, and only trust a confident match.</a:t>
            </a:r>
          </a:p>
        </p:txBody>
      </p:sp>
      <p:pic>
        <p:nvPicPr>
          <p:cNvPr id="39" name="Picture 38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43C6750D-5F94-A5BA-BB5A-3B523946F09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23" y="6984246"/>
            <a:ext cx="6360718" cy="2357913"/>
          </a:xfrm>
          <a:prstGeom prst="rect">
            <a:avLst/>
          </a:prstGeom>
        </p:spPr>
      </p:pic>
      <p:sp>
        <p:nvSpPr>
          <p:cNvPr id="44" name="Rectangle 7">
            <a:extLst>
              <a:ext uri="{FF2B5EF4-FFF2-40B4-BE49-F238E27FC236}">
                <a16:creationId xmlns:a16="http://schemas.microsoft.com/office/drawing/2014/main" id="{7D5BEDEE-E642-0D75-F9C0-6053CE04F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7271" y="6391803"/>
            <a:ext cx="919465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Voice mirrors the face pipeline exactly.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librosa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splits the recording into segments where someone's actually talking — silence gets thrown out. Each segment becomes an embedding via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get_voice_embedding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identify_speaker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compares it against every enrolled student's stored voice using np.dot — that's cosine similarity, since these embeddings are pre-normalized. Score has to clear 0.65 or it's rejected, same conservative philosophy as the face side. </a:t>
            </a:r>
          </a:p>
        </p:txBody>
      </p:sp>
    </p:spTree>
    <p:extLst>
      <p:ext uri="{BB962C8B-B14F-4D97-AF65-F5344CB8AC3E}">
        <p14:creationId xmlns:p14="http://schemas.microsoft.com/office/powerpoint/2010/main" val="19631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-544" y="-5545"/>
            <a:ext cx="18288000" cy="10287000"/>
            <a:chOff x="0" y="0"/>
            <a:chExt cx="24384000" cy="137160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</p:sp>
      </p:grpSp>
      <p:grpSp>
        <p:nvGrpSpPr>
          <p:cNvPr id="2" name="Group 2"/>
          <p:cNvGrpSpPr/>
          <p:nvPr/>
        </p:nvGrpSpPr>
        <p:grpSpPr>
          <a:xfrm>
            <a:off x="-1627652" y="4729690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2">
                <a:alphaModFix amt="6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6" r="-86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501688" y="728662"/>
            <a:ext cx="3914775" cy="500062"/>
            <a:chOff x="0" y="0"/>
            <a:chExt cx="5219700" cy="6667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5219700" cy="666750"/>
            </a:xfrm>
            <a:custGeom>
              <a:avLst/>
              <a:gdLst/>
              <a:ahLst/>
              <a:cxnLst/>
              <a:rect l="l" t="t" r="r" b="b"/>
              <a:pathLst>
                <a:path w="5219700" h="666750">
                  <a:moveTo>
                    <a:pt x="0" y="0"/>
                  </a:moveTo>
                  <a:lnTo>
                    <a:pt x="5219700" y="0"/>
                  </a:lnTo>
                  <a:lnTo>
                    <a:pt x="52197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6759238" y="9691688"/>
            <a:ext cx="888247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08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1625" y="2124075"/>
            <a:ext cx="736806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0F1D2D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Registration Workflow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3162" y="2763662"/>
            <a:ext cx="7441043" cy="88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How a student creates an account and sets up biometrics: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0125" y="2200275"/>
            <a:ext cx="400050" cy="314325"/>
            <a:chOff x="0" y="0"/>
            <a:chExt cx="533400" cy="4191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533400" cy="419100"/>
            </a:xfrm>
            <a:custGeom>
              <a:avLst/>
              <a:gdLst/>
              <a:ahLst/>
              <a:cxnLst/>
              <a:rect l="l" t="t" r="r" b="b"/>
              <a:pathLst>
                <a:path w="533400" h="419100">
                  <a:moveTo>
                    <a:pt x="0" y="0"/>
                  </a:moveTo>
                  <a:lnTo>
                    <a:pt x="533400" y="0"/>
                  </a:lnTo>
                  <a:lnTo>
                    <a:pt x="533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600200" y="3963650"/>
            <a:ext cx="7310914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Webcam Capture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Student provides clear face image sample via browser webcam.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06142" y="5256897"/>
            <a:ext cx="7867814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Voice Recording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Student reads sample phrase to generate voice embedding.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04873" y="6542794"/>
            <a:ext cx="7310914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Profile Saved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System computes embeddings and saves metadata to DB.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81997" y="7920223"/>
            <a:ext cx="9553575" cy="1343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Failure Handling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If a student attempts to login without completing face/voice registration, authentication fails with a warning to register first.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71575" y="4037015"/>
            <a:ext cx="228600" cy="228600"/>
            <a:chOff x="0" y="0"/>
            <a:chExt cx="304800" cy="3048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157286" y="5248514"/>
            <a:ext cx="171450" cy="228600"/>
            <a:chOff x="0" y="0"/>
            <a:chExt cx="228600" cy="3048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142999" y="6688614"/>
            <a:ext cx="200025" cy="228600"/>
            <a:chOff x="0" y="0"/>
            <a:chExt cx="266700" cy="30480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152735" y="8058026"/>
            <a:ext cx="228600" cy="228600"/>
            <a:chOff x="0" y="0"/>
            <a:chExt cx="304800" cy="304800"/>
          </a:xfrm>
        </p:grpSpPr>
        <p:sp>
          <p:nvSpPr>
            <p:cNvPr id="42" name="Freeform 42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871537" y="683316"/>
            <a:ext cx="16544925" cy="808020"/>
            <a:chOff x="0" y="0"/>
            <a:chExt cx="22059900" cy="107736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367145" b="-330800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 | STUDENT PORTAL (Part 1)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2498344" y="-713019"/>
            <a:ext cx="7441042" cy="6567166"/>
            <a:chOff x="0" y="0"/>
            <a:chExt cx="9921390" cy="8756221"/>
          </a:xfrm>
        </p:grpSpPr>
        <p:sp>
          <p:nvSpPr>
            <p:cNvPr id="49" name="Freeform 49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2">
                <a:alphaModFix amt="6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0" name="Group 50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59" name="Freeform 59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60" name="Freeform 60"/>
          <p:cNvSpPr/>
          <p:nvPr/>
        </p:nvSpPr>
        <p:spPr>
          <a:xfrm rot="-1947032">
            <a:off x="-35468748" y="5160048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2" y="0"/>
                </a:lnTo>
                <a:lnTo>
                  <a:pt x="41083902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1" name="TextBox 61"/>
          <p:cNvSpPr txBox="1"/>
          <p:nvPr/>
        </p:nvSpPr>
        <p:spPr>
          <a:xfrm>
            <a:off x="457914" y="9605010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FA0D973E-39AD-D58D-60FD-63590FF1F2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9235" y="2348028"/>
            <a:ext cx="8792396" cy="46599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A581A442-741F-2121-7BB1-821609E21306}"/>
              </a:ext>
            </a:extLst>
          </p:cNvPr>
          <p:cNvSpPr txBox="1"/>
          <p:nvPr/>
        </p:nvSpPr>
        <p:spPr>
          <a:xfrm>
            <a:off x="11529271" y="7228714"/>
            <a:ext cx="427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Student Login via Webcam and Voice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-34751" y="0"/>
            <a:ext cx="18288000" cy="10287000"/>
            <a:chOff x="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" name="Group 2"/>
          <p:cNvGrpSpPr/>
          <p:nvPr/>
        </p:nvGrpSpPr>
        <p:grpSpPr>
          <a:xfrm>
            <a:off x="-1729587" y="5038516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4">
                <a:alphaModFix amt="6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6" r="-86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230350" y="728662"/>
            <a:ext cx="3186112" cy="500062"/>
            <a:chOff x="0" y="0"/>
            <a:chExt cx="4248150" cy="6667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4248150" cy="666750"/>
            </a:xfrm>
            <a:custGeom>
              <a:avLst/>
              <a:gdLst/>
              <a:ahLst/>
              <a:cxnLst/>
              <a:rect l="l" t="t" r="r" b="b"/>
              <a:pathLst>
                <a:path w="4248150" h="666750">
                  <a:moveTo>
                    <a:pt x="0" y="0"/>
                  </a:moveTo>
                  <a:lnTo>
                    <a:pt x="4248150" y="0"/>
                  </a:lnTo>
                  <a:lnTo>
                    <a:pt x="424815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6759238" y="9691688"/>
            <a:ext cx="911349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09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6606" y="2374035"/>
            <a:ext cx="736806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 dirty="0">
                <a:solidFill>
                  <a:srgbClr val="0F1D2D"/>
                </a:solidFill>
                <a:latin typeface="Poppins Bold"/>
                <a:ea typeface="Poppins Bold"/>
                <a:cs typeface="Poppins Bold"/>
                <a:sym typeface="Poppins Bold"/>
              </a:rPr>
              <a:t>Course Enrollment Workflow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24091" y="2444844"/>
            <a:ext cx="400050" cy="314325"/>
            <a:chOff x="0" y="0"/>
            <a:chExt cx="533400" cy="4191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533400" cy="419100"/>
            </a:xfrm>
            <a:custGeom>
              <a:avLst/>
              <a:gdLst/>
              <a:ahLst/>
              <a:cxnLst/>
              <a:rect l="l" t="t" r="r" b="b"/>
              <a:pathLst>
                <a:path w="533400" h="419100">
                  <a:moveTo>
                    <a:pt x="0" y="0"/>
                  </a:moveTo>
                  <a:lnTo>
                    <a:pt x="533400" y="0"/>
                  </a:lnTo>
                  <a:lnTo>
                    <a:pt x="533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366574" y="3294776"/>
            <a:ext cx="8429625" cy="88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Browse Courses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Registered students view 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available courses created by instructors.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4450" y="4676377"/>
            <a:ext cx="6943725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Quick </a:t>
            </a: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Enroll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Enrolls in the active section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 (e.g., CSE445 Sec 7).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01400" y="8420098"/>
            <a:ext cx="4495799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Entire Student Login Workflow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878459" y="3406351"/>
            <a:ext cx="228600" cy="228600"/>
            <a:chOff x="0" y="0"/>
            <a:chExt cx="304800" cy="3048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909816" y="4776964"/>
            <a:ext cx="228600" cy="228600"/>
            <a:chOff x="0" y="0"/>
            <a:chExt cx="304800" cy="3048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367145" b="-33080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 | STUDENT PORTAL (Part 2)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1" name="Freeform 41"/>
          <p:cNvSpPr/>
          <p:nvPr/>
        </p:nvSpPr>
        <p:spPr>
          <a:xfrm rot="-1947032">
            <a:off x="-36970392" y="5948836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2" name="Group 42"/>
          <p:cNvGrpSpPr/>
          <p:nvPr/>
        </p:nvGrpSpPr>
        <p:grpSpPr>
          <a:xfrm>
            <a:off x="12938704" y="-1156944"/>
            <a:ext cx="7441042" cy="6567166"/>
            <a:chOff x="0" y="0"/>
            <a:chExt cx="9921390" cy="8756221"/>
          </a:xfrm>
        </p:grpSpPr>
        <p:sp>
          <p:nvSpPr>
            <p:cNvPr id="43" name="Freeform 43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4">
                <a:alphaModFix amt="6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4" name="Group 44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53" name="Freeform 53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8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1340341" y="6186769"/>
            <a:ext cx="6943725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One-Click Unenroll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Unenrolls from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 any course in one click.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08065" y="6344827"/>
            <a:ext cx="228600" cy="228600"/>
            <a:chOff x="0" y="0"/>
            <a:chExt cx="304800" cy="304800"/>
          </a:xfrm>
        </p:grpSpPr>
        <p:sp>
          <p:nvSpPr>
            <p:cNvPr id="56" name="Freeform 56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57" name="TextBox 57"/>
          <p:cNvSpPr txBox="1"/>
          <p:nvPr/>
        </p:nvSpPr>
        <p:spPr>
          <a:xfrm>
            <a:off x="757595" y="9683115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58" name="Student login">
            <a:hlinkClick r:id="" action="ppaction://media"/>
            <a:extLst>
              <a:ext uri="{FF2B5EF4-FFF2-40B4-BE49-F238E27FC236}">
                <a16:creationId xmlns:a16="http://schemas.microsoft.com/office/drawing/2014/main" id="{70275B8A-E517-DDE1-E05A-CACE0777D7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238181" y="2429292"/>
            <a:ext cx="9704143" cy="5458580"/>
          </a:xfrm>
          <a:prstGeom prst="rect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84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" name="Group 2"/>
          <p:cNvGrpSpPr/>
          <p:nvPr/>
        </p:nvGrpSpPr>
        <p:grpSpPr>
          <a:xfrm>
            <a:off x="-1649316" y="5176409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2">
                <a:alphaModFix amt="6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2781842" y="-1025840"/>
            <a:ext cx="7441042" cy="6567166"/>
            <a:chOff x="0" y="0"/>
            <a:chExt cx="9921390" cy="8756221"/>
          </a:xfrm>
        </p:grpSpPr>
        <p:sp>
          <p:nvSpPr>
            <p:cNvPr id="17" name="Freeform 17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2">
                <a:alphaModFix amt="6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63618" y="9618829"/>
            <a:ext cx="16544925" cy="414338"/>
            <a:chOff x="0" y="0"/>
            <a:chExt cx="22059900" cy="55245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4000"/>
              </a:blip>
              <a:stretch>
                <a:fillRect l="-86" r="-86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3615988" y="728662"/>
            <a:ext cx="3800475" cy="500062"/>
            <a:chOff x="0" y="0"/>
            <a:chExt cx="5067300" cy="66675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5067300" cy="666750"/>
            </a:xfrm>
            <a:custGeom>
              <a:avLst/>
              <a:gdLst/>
              <a:ahLst/>
              <a:cxnLst/>
              <a:rect l="l" t="t" r="r" b="b"/>
              <a:pathLst>
                <a:path w="5067300" h="666750">
                  <a:moveTo>
                    <a:pt x="0" y="0"/>
                  </a:moveTo>
                  <a:lnTo>
                    <a:pt x="5067300" y="0"/>
                  </a:lnTo>
                  <a:lnTo>
                    <a:pt x="50673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6759238" y="9691688"/>
            <a:ext cx="911349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 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71625" y="1931194"/>
            <a:ext cx="736806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0F1D2D"/>
                </a:solidFill>
                <a:latin typeface="Poppins Bold"/>
                <a:ea typeface="Poppins Bold"/>
                <a:cs typeface="Poppins Bold"/>
                <a:sym typeface="Poppins Bold"/>
              </a:rPr>
              <a:t>Onboarding &amp; Creation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14412" y="2042991"/>
            <a:ext cx="428625" cy="336777"/>
            <a:chOff x="0" y="0"/>
            <a:chExt cx="533400" cy="419100"/>
          </a:xfrm>
        </p:grpSpPr>
        <p:sp>
          <p:nvSpPr>
            <p:cNvPr id="37" name="Freeform 37" descr="image.png"/>
            <p:cNvSpPr/>
            <p:nvPr/>
          </p:nvSpPr>
          <p:spPr>
            <a:xfrm>
              <a:off x="0" y="0"/>
              <a:ext cx="533400" cy="419100"/>
            </a:xfrm>
            <a:custGeom>
              <a:avLst/>
              <a:gdLst/>
              <a:ahLst/>
              <a:cxnLst/>
              <a:rect l="l" t="t" r="r" b="b"/>
              <a:pathLst>
                <a:path w="533400" h="419100">
                  <a:moveTo>
                    <a:pt x="0" y="0"/>
                  </a:moveTo>
                  <a:lnTo>
                    <a:pt x="533400" y="0"/>
                  </a:lnTo>
                  <a:lnTo>
                    <a:pt x="533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1496528" y="3065253"/>
            <a:ext cx="8260551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Instructor Setup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Teacher registers 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username and passwords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03695" y="4811580"/>
            <a:ext cx="7682996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Secure Login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Authenticates instructor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 credentials</a:t>
            </a:r>
            <a:r>
              <a:rPr lang="en-US" sz="2399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to unlock class controls.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71625" y="6601007"/>
            <a:ext cx="7844711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Create Courses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Instructor adds new 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course codes, section titles, and student.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64003" y="8186757"/>
            <a:ext cx="4552222" cy="241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Course Creation &amp; Class Control Dashboard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200149" y="3176281"/>
            <a:ext cx="285750" cy="228600"/>
            <a:chOff x="0" y="0"/>
            <a:chExt cx="381000" cy="304800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083638" y="4904417"/>
            <a:ext cx="228600" cy="228600"/>
            <a:chOff x="0" y="0"/>
            <a:chExt cx="304800" cy="304800"/>
          </a:xfrm>
        </p:grpSpPr>
        <p:sp>
          <p:nvSpPr>
            <p:cNvPr id="49" name="Freeform 49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1147484" y="6762355"/>
            <a:ext cx="228600" cy="228600"/>
            <a:chOff x="0" y="0"/>
            <a:chExt cx="304800" cy="304800"/>
          </a:xfrm>
        </p:grpSpPr>
        <p:sp>
          <p:nvSpPr>
            <p:cNvPr id="51" name="Freeform 51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t="-367145" b="-33080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07 | TEACHER PORTAL (Part 1)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9" name="Freeform 59"/>
          <p:cNvSpPr/>
          <p:nvPr/>
        </p:nvSpPr>
        <p:spPr>
          <a:xfrm rot="-1947032">
            <a:off x="-36124926" y="5634511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0" name="TextBox 60"/>
          <p:cNvSpPr txBox="1"/>
          <p:nvPr/>
        </p:nvSpPr>
        <p:spPr>
          <a:xfrm>
            <a:off x="780705" y="9561679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AE554F8-F0EB-E047-29E2-6DB8130DFF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94334" y="2439844"/>
            <a:ext cx="9521193" cy="535411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-11060" y="0"/>
            <a:ext cx="18288000" cy="10287000"/>
            <a:chOff x="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-1693806" y="4952999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4">
                <a:alphaModFix amt="6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3092555" y="-1066477"/>
            <a:ext cx="7441042" cy="6567166"/>
            <a:chOff x="0" y="0"/>
            <a:chExt cx="9921390" cy="8756221"/>
          </a:xfrm>
        </p:grpSpPr>
        <p:sp>
          <p:nvSpPr>
            <p:cNvPr id="17" name="Freeform 17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4">
                <a:alphaModFix amt="6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8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6" r="-86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4473238" y="728662"/>
            <a:ext cx="2943225" cy="500062"/>
            <a:chOff x="0" y="0"/>
            <a:chExt cx="3924300" cy="66675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3924300" cy="666750"/>
            </a:xfrm>
            <a:custGeom>
              <a:avLst/>
              <a:gdLst/>
              <a:ahLst/>
              <a:cxnLst/>
              <a:rect l="l" t="t" r="r" b="b"/>
              <a:pathLst>
                <a:path w="3924300" h="666750">
                  <a:moveTo>
                    <a:pt x="0" y="0"/>
                  </a:moveTo>
                  <a:lnTo>
                    <a:pt x="3924300" y="0"/>
                  </a:lnTo>
                  <a:lnTo>
                    <a:pt x="39243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6787812" y="9691688"/>
            <a:ext cx="905877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11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04925" y="2124075"/>
            <a:ext cx="763476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 dirty="0">
                <a:solidFill>
                  <a:srgbClr val="0F1D2D"/>
                </a:solidFill>
                <a:latin typeface="Poppins Bold"/>
                <a:ea typeface="Poppins Bold"/>
                <a:cs typeface="Poppins Bold"/>
                <a:sym typeface="Poppins Bold"/>
              </a:rPr>
              <a:t>Live Attendance Process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28775" y="2719387"/>
            <a:ext cx="8445369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Select Course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Teacher chooses active course 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section from dashboard.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50444" y="4148137"/>
            <a:ext cx="7960222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Webcam Snap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Opens live webcam feed &amp; 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captures image when student appears.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28775" y="5453063"/>
            <a:ext cx="7981892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Face Analysis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Runs instant AI vector 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matching against database profiles.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59468" y="6842328"/>
            <a:ext cx="8051198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Voice Check: 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Prompts secondary voice 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check for verification.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36366" y="8309050"/>
            <a:ext cx="7844711" cy="8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0F1D2D"/>
                </a:solidFill>
                <a:latin typeface="Inter Bold"/>
                <a:ea typeface="Inter Bold"/>
                <a:cs typeface="Inter Bold"/>
                <a:sym typeface="Inter Bold"/>
              </a:rPr>
              <a:t>Confirmation</a:t>
            </a: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: Confirmation pop-up shows </a:t>
            </a:r>
          </a:p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 dirty="0">
                <a:solidFill>
                  <a:srgbClr val="0F1D2D"/>
                </a:solidFill>
                <a:latin typeface="Inter"/>
                <a:ea typeface="Inter"/>
                <a:cs typeface="Inter"/>
                <a:sym typeface="Inter"/>
              </a:rPr>
              <a:t>matched student details &amp; saves to DB.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896600" y="8052570"/>
            <a:ext cx="4726781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Entire Teacher Workflow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228725" y="2828925"/>
            <a:ext cx="200025" cy="228600"/>
            <a:chOff x="0" y="0"/>
            <a:chExt cx="266700" cy="30480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171575" y="4352925"/>
            <a:ext cx="257175" cy="228600"/>
            <a:chOff x="0" y="0"/>
            <a:chExt cx="342900" cy="304800"/>
          </a:xfrm>
        </p:grpSpPr>
        <p:sp>
          <p:nvSpPr>
            <p:cNvPr id="48" name="Freeform 48" descr="image.png"/>
            <p:cNvSpPr/>
            <p:nvPr/>
          </p:nvSpPr>
          <p:spPr>
            <a:xfrm>
              <a:off x="0" y="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205623" y="5554450"/>
            <a:ext cx="228600" cy="228600"/>
            <a:chOff x="0" y="0"/>
            <a:chExt cx="304800" cy="304800"/>
          </a:xfrm>
        </p:grpSpPr>
        <p:sp>
          <p:nvSpPr>
            <p:cNvPr id="50" name="Freeform 50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1185862" y="7043738"/>
            <a:ext cx="171450" cy="228600"/>
            <a:chOff x="0" y="0"/>
            <a:chExt cx="228600" cy="304800"/>
          </a:xfrm>
        </p:grpSpPr>
        <p:sp>
          <p:nvSpPr>
            <p:cNvPr id="52" name="Freeform 52" descr="image.png"/>
            <p:cNvSpPr/>
            <p:nvPr/>
          </p:nvSpPr>
          <p:spPr>
            <a:xfrm>
              <a:off x="0" y="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143000" y="8377238"/>
            <a:ext cx="200025" cy="228600"/>
            <a:chOff x="0" y="0"/>
            <a:chExt cx="266700" cy="304800"/>
          </a:xfrm>
        </p:grpSpPr>
        <p:sp>
          <p:nvSpPr>
            <p:cNvPr id="54" name="Freeform 54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solidFill>
              <a:srgbClr val="3A73AE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08 | TEACHER PORTAL (PART 2)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0" name="Freeform 60"/>
          <p:cNvSpPr/>
          <p:nvPr/>
        </p:nvSpPr>
        <p:spPr>
          <a:xfrm rot="-1947032">
            <a:off x="-36199077" y="5532996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1" name="TextBox 61"/>
          <p:cNvSpPr txBox="1"/>
          <p:nvPr/>
        </p:nvSpPr>
        <p:spPr>
          <a:xfrm>
            <a:off x="694992" y="9627310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62" name="Teacher login">
            <a:hlinkClick r:id="" action="ppaction://media"/>
            <a:extLst>
              <a:ext uri="{FF2B5EF4-FFF2-40B4-BE49-F238E27FC236}">
                <a16:creationId xmlns:a16="http://schemas.microsoft.com/office/drawing/2014/main" id="{E3AD3CAC-2789-0C9E-F43A-D7EBEFFD2C8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8565994" y="2680046"/>
            <a:ext cx="9127696" cy="51343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467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5450" y="5549168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71538" y="3115258"/>
            <a:ext cx="3686175" cy="1178719"/>
            <a:chOff x="0" y="0"/>
            <a:chExt cx="4914900" cy="1571625"/>
          </a:xfrm>
        </p:grpSpPr>
        <p:sp>
          <p:nvSpPr>
            <p:cNvPr id="15" name="Freeform 15"/>
            <p:cNvSpPr/>
            <p:nvPr/>
          </p:nvSpPr>
          <p:spPr>
            <a:xfrm rot="-5400000">
              <a:off x="1671638" y="-1671638"/>
              <a:ext cx="1571625" cy="4914900"/>
            </a:xfrm>
            <a:custGeom>
              <a:avLst/>
              <a:gdLst/>
              <a:ahLst/>
              <a:cxnLst/>
              <a:rect l="l" t="t" r="r" b="b"/>
              <a:pathLst>
                <a:path w="1571625" h="4914900">
                  <a:moveTo>
                    <a:pt x="1571624" y="495300"/>
                  </a:moveTo>
                  <a:lnTo>
                    <a:pt x="1571624" y="4419600"/>
                  </a:lnTo>
                  <a:cubicBezTo>
                    <a:pt x="1571624" y="4693147"/>
                    <a:pt x="1349871" y="4914900"/>
                    <a:pt x="1076324" y="4914900"/>
                  </a:cubicBezTo>
                  <a:lnTo>
                    <a:pt x="495300" y="4914900"/>
                  </a:lnTo>
                  <a:cubicBezTo>
                    <a:pt x="221753" y="4914900"/>
                    <a:pt x="0" y="4693147"/>
                    <a:pt x="0" y="4419600"/>
                  </a:cubicBezTo>
                  <a:lnTo>
                    <a:pt x="0" y="495300"/>
                  </a:lnTo>
                  <a:cubicBezTo>
                    <a:pt x="0" y="221754"/>
                    <a:pt x="221753" y="0"/>
                    <a:pt x="495300" y="0"/>
                  </a:cubicBezTo>
                  <a:lnTo>
                    <a:pt x="1076324" y="0"/>
                  </a:lnTo>
                  <a:cubicBezTo>
                    <a:pt x="1349871" y="0"/>
                    <a:pt x="1571624" y="221754"/>
                    <a:pt x="1571624" y="495300"/>
                  </a:cubicBezTo>
                  <a:close/>
                </a:path>
              </a:pathLst>
            </a:custGeom>
            <a:blipFill>
              <a:blip r:embed="rId6"/>
              <a:stretch>
                <a:fillRect l="-106363" r="-10636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5157788" y="3086100"/>
            <a:ext cx="3686175" cy="1178719"/>
            <a:chOff x="0" y="0"/>
            <a:chExt cx="4914900" cy="15716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14900" cy="1571625"/>
            </a:xfrm>
            <a:custGeom>
              <a:avLst/>
              <a:gdLst/>
              <a:ahLst/>
              <a:cxnLst/>
              <a:rect l="l" t="t" r="r" b="b"/>
              <a:pathLst>
                <a:path w="4914900" h="1571625">
                  <a:moveTo>
                    <a:pt x="495300" y="0"/>
                  </a:moveTo>
                  <a:lnTo>
                    <a:pt x="4419600" y="0"/>
                  </a:lnTo>
                  <a:cubicBezTo>
                    <a:pt x="4693146" y="0"/>
                    <a:pt x="4914900" y="221753"/>
                    <a:pt x="4914900" y="495300"/>
                  </a:cubicBezTo>
                  <a:lnTo>
                    <a:pt x="4914900" y="1076325"/>
                  </a:lnTo>
                  <a:cubicBezTo>
                    <a:pt x="4914900" y="1349872"/>
                    <a:pt x="4693146" y="1571625"/>
                    <a:pt x="4419600" y="1571625"/>
                  </a:cubicBezTo>
                  <a:lnTo>
                    <a:pt x="495300" y="1571625"/>
                  </a:lnTo>
                  <a:cubicBezTo>
                    <a:pt x="221753" y="1571625"/>
                    <a:pt x="0" y="1349872"/>
                    <a:pt x="0" y="1076325"/>
                  </a:cubicBezTo>
                  <a:lnTo>
                    <a:pt x="0" y="495300"/>
                  </a:lnTo>
                  <a:cubicBezTo>
                    <a:pt x="0" y="221753"/>
                    <a:pt x="221753" y="0"/>
                    <a:pt x="495300" y="0"/>
                  </a:cubicBezTo>
                  <a:close/>
                </a:path>
              </a:pathLst>
            </a:custGeom>
            <a:blipFill>
              <a:blip r:embed="rId6"/>
              <a:stretch>
                <a:fillRect t="-106363" b="-10636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444038" y="3086100"/>
            <a:ext cx="3686175" cy="1178719"/>
            <a:chOff x="0" y="0"/>
            <a:chExt cx="4914900" cy="15716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14900" cy="1571625"/>
            </a:xfrm>
            <a:custGeom>
              <a:avLst/>
              <a:gdLst/>
              <a:ahLst/>
              <a:cxnLst/>
              <a:rect l="l" t="t" r="r" b="b"/>
              <a:pathLst>
                <a:path w="4914900" h="1571625">
                  <a:moveTo>
                    <a:pt x="495300" y="0"/>
                  </a:moveTo>
                  <a:lnTo>
                    <a:pt x="4419600" y="0"/>
                  </a:lnTo>
                  <a:cubicBezTo>
                    <a:pt x="4693146" y="0"/>
                    <a:pt x="4914900" y="221753"/>
                    <a:pt x="4914900" y="495300"/>
                  </a:cubicBezTo>
                  <a:lnTo>
                    <a:pt x="4914900" y="1076325"/>
                  </a:lnTo>
                  <a:cubicBezTo>
                    <a:pt x="4914900" y="1349872"/>
                    <a:pt x="4693146" y="1571625"/>
                    <a:pt x="4419600" y="1571625"/>
                  </a:cubicBezTo>
                  <a:lnTo>
                    <a:pt x="495300" y="1571625"/>
                  </a:lnTo>
                  <a:cubicBezTo>
                    <a:pt x="221753" y="1571625"/>
                    <a:pt x="0" y="1349872"/>
                    <a:pt x="0" y="1076325"/>
                  </a:cubicBezTo>
                  <a:lnTo>
                    <a:pt x="0" y="495300"/>
                  </a:lnTo>
                  <a:cubicBezTo>
                    <a:pt x="0" y="221753"/>
                    <a:pt x="221753" y="0"/>
                    <a:pt x="495300" y="0"/>
                  </a:cubicBezTo>
                  <a:close/>
                </a:path>
              </a:pathLst>
            </a:custGeom>
            <a:blipFill>
              <a:blip r:embed="rId6"/>
              <a:stretch>
                <a:fillRect t="-106363" b="-106363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706475" y="3040856"/>
            <a:ext cx="3686175" cy="1178719"/>
            <a:chOff x="0" y="0"/>
            <a:chExt cx="4914900" cy="15716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14900" cy="1571625"/>
            </a:xfrm>
            <a:custGeom>
              <a:avLst/>
              <a:gdLst/>
              <a:ahLst/>
              <a:cxnLst/>
              <a:rect l="l" t="t" r="r" b="b"/>
              <a:pathLst>
                <a:path w="4914900" h="1571625">
                  <a:moveTo>
                    <a:pt x="495300" y="0"/>
                  </a:moveTo>
                  <a:lnTo>
                    <a:pt x="4419600" y="0"/>
                  </a:lnTo>
                  <a:cubicBezTo>
                    <a:pt x="4693146" y="0"/>
                    <a:pt x="4914900" y="221753"/>
                    <a:pt x="4914900" y="495300"/>
                  </a:cubicBezTo>
                  <a:lnTo>
                    <a:pt x="4914900" y="1076325"/>
                  </a:lnTo>
                  <a:cubicBezTo>
                    <a:pt x="4914900" y="1349872"/>
                    <a:pt x="4693146" y="1571625"/>
                    <a:pt x="4419600" y="1571625"/>
                  </a:cubicBezTo>
                  <a:lnTo>
                    <a:pt x="495300" y="1571625"/>
                  </a:lnTo>
                  <a:cubicBezTo>
                    <a:pt x="221753" y="1571625"/>
                    <a:pt x="0" y="1349872"/>
                    <a:pt x="0" y="1076325"/>
                  </a:cubicBezTo>
                  <a:lnTo>
                    <a:pt x="0" y="495300"/>
                  </a:lnTo>
                  <a:cubicBezTo>
                    <a:pt x="0" y="221753"/>
                    <a:pt x="221753" y="0"/>
                    <a:pt x="495300" y="0"/>
                  </a:cubicBezTo>
                  <a:close/>
                </a:path>
              </a:pathLst>
            </a:custGeom>
            <a:blipFill>
              <a:blip r:embed="rId6"/>
              <a:stretch>
                <a:fillRect t="-106363" b="-106363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977023" y="4770226"/>
            <a:ext cx="7943850" cy="3134506"/>
            <a:chOff x="0" y="0"/>
            <a:chExt cx="11182815" cy="44125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182815" cy="4412545"/>
            </a:xfrm>
            <a:custGeom>
              <a:avLst/>
              <a:gdLst/>
              <a:ahLst/>
              <a:cxnLst/>
              <a:rect l="l" t="t" r="r" b="b"/>
              <a:pathLst>
                <a:path w="11182815" h="4412545">
                  <a:moveTo>
                    <a:pt x="644137" y="0"/>
                  </a:moveTo>
                  <a:lnTo>
                    <a:pt x="10538678" y="0"/>
                  </a:lnTo>
                  <a:cubicBezTo>
                    <a:pt x="10894425" y="0"/>
                    <a:pt x="11182815" y="288390"/>
                    <a:pt x="11182815" y="644137"/>
                  </a:cubicBezTo>
                  <a:lnTo>
                    <a:pt x="11182815" y="3768409"/>
                  </a:lnTo>
                  <a:cubicBezTo>
                    <a:pt x="11182815" y="3939244"/>
                    <a:pt x="11114951" y="4103083"/>
                    <a:pt x="10994152" y="4223882"/>
                  </a:cubicBezTo>
                  <a:cubicBezTo>
                    <a:pt x="10873353" y="4344681"/>
                    <a:pt x="10709514" y="4412545"/>
                    <a:pt x="10538678" y="4412545"/>
                  </a:cubicBezTo>
                  <a:lnTo>
                    <a:pt x="644137" y="4412545"/>
                  </a:lnTo>
                  <a:cubicBezTo>
                    <a:pt x="473301" y="4412545"/>
                    <a:pt x="309462" y="4344681"/>
                    <a:pt x="188663" y="4223882"/>
                  </a:cubicBezTo>
                  <a:cubicBezTo>
                    <a:pt x="67864" y="4103083"/>
                    <a:pt x="0" y="3939244"/>
                    <a:pt x="0" y="3768409"/>
                  </a:cubicBezTo>
                  <a:lnTo>
                    <a:pt x="0" y="644137"/>
                  </a:lnTo>
                  <a:cubicBezTo>
                    <a:pt x="0" y="473301"/>
                    <a:pt x="67864" y="309462"/>
                    <a:pt x="188663" y="188663"/>
                  </a:cubicBezTo>
                  <a:cubicBezTo>
                    <a:pt x="309462" y="67864"/>
                    <a:pt x="473301" y="0"/>
                    <a:pt x="644137" y="0"/>
                  </a:cubicBezTo>
                  <a:close/>
                </a:path>
              </a:pathLst>
            </a:custGeom>
            <a:blipFill>
              <a:blip r:embed="rId6"/>
              <a:stretch>
                <a:fillRect t="-76716" b="-76716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6" r="-86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4044612" y="728662"/>
            <a:ext cx="3371850" cy="500062"/>
            <a:chOff x="0" y="0"/>
            <a:chExt cx="4495800" cy="6667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4495800" cy="666750"/>
            </a:xfrm>
            <a:custGeom>
              <a:avLst/>
              <a:gdLst/>
              <a:ahLst/>
              <a:cxnLst/>
              <a:rect l="l" t="t" r="r" b="b"/>
              <a:pathLst>
                <a:path w="4495800" h="666750">
                  <a:moveTo>
                    <a:pt x="0" y="0"/>
                  </a:moveTo>
                  <a:lnTo>
                    <a:pt x="4495800" y="0"/>
                  </a:lnTo>
                  <a:lnTo>
                    <a:pt x="44958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4806073" y="3559969"/>
            <a:ext cx="142875" cy="228600"/>
            <a:chOff x="0" y="0"/>
            <a:chExt cx="190500" cy="3048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766" r="-1759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9072562" y="3559969"/>
            <a:ext cx="142875" cy="228600"/>
            <a:chOff x="0" y="0"/>
            <a:chExt cx="190500" cy="3048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125" b="-3125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3358812" y="3590317"/>
            <a:ext cx="142875" cy="228600"/>
            <a:chOff x="0" y="0"/>
            <a:chExt cx="190500" cy="3048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766" r="-1759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134185" y="5538788"/>
            <a:ext cx="357188" cy="314325"/>
            <a:chOff x="0" y="0"/>
            <a:chExt cx="476250" cy="4191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476250" cy="419100"/>
            </a:xfrm>
            <a:custGeom>
              <a:avLst/>
              <a:gdLst/>
              <a:ahLst/>
              <a:cxnLst/>
              <a:rect l="l" t="t" r="r" b="b"/>
              <a:pathLst>
                <a:path w="476250" h="419100">
                  <a:moveTo>
                    <a:pt x="0" y="0"/>
                  </a:moveTo>
                  <a:lnTo>
                    <a:pt x="476250" y="0"/>
                  </a:lnTo>
                  <a:lnTo>
                    <a:pt x="4762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272" b="-2272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solidFill>
              <a:srgbClr val="3A73AE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09 | HUMAN IN THE LOOP (TEACHER CONFIRMATION)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871538" y="1747838"/>
            <a:ext cx="1654492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0"/>
              </a:lnSpc>
              <a:spcBef>
                <a:spcPct val="0"/>
              </a:spcBef>
            </a:pPr>
            <a:r>
              <a:rPr lang="en-US" sz="2850" u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Nothing reaches a student's permanent record without the instructor tapping "Confirm &amp; Save".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0112" y="3273028"/>
            <a:ext cx="3143250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A0DFFB"/>
                </a:solidFill>
                <a:latin typeface="Inter Bold"/>
                <a:ea typeface="Inter Bold"/>
                <a:cs typeface="Inter Bold"/>
                <a:sym typeface="Inter Bold"/>
              </a:rPr>
              <a:t>1. AI Match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8700" y="3687240"/>
            <a:ext cx="3143250" cy="363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2"/>
              </a:lnSpc>
            </a:pPr>
            <a:r>
              <a:rPr lang="en-US" sz="196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Detects face/voice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025562" y="3273028"/>
            <a:ext cx="3143250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73D7B6"/>
                </a:solidFill>
                <a:latin typeface="Inter Bold"/>
                <a:ea typeface="Inter Bold"/>
                <a:cs typeface="Inter Bold"/>
                <a:sym typeface="Inter Bold"/>
              </a:rPr>
              <a:t>4. Confirm &amp; Save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77938" y="3687240"/>
            <a:ext cx="3143250" cy="363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2"/>
              </a:lnSpc>
              <a:spcBef>
                <a:spcPct val="0"/>
              </a:spcBef>
            </a:pPr>
            <a:r>
              <a:rPr lang="en-US" sz="1962" u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Pushed to Database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77023" y="4770226"/>
            <a:ext cx="7938070" cy="3134506"/>
            <a:chOff x="0" y="0"/>
            <a:chExt cx="17913639" cy="7073559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17913640" cy="7073560"/>
            </a:xfrm>
            <a:custGeom>
              <a:avLst/>
              <a:gdLst/>
              <a:ahLst/>
              <a:cxnLst/>
              <a:rect l="l" t="t" r="r" b="b"/>
              <a:pathLst>
                <a:path w="17913640" h="7073560">
                  <a:moveTo>
                    <a:pt x="422880" y="0"/>
                  </a:moveTo>
                  <a:lnTo>
                    <a:pt x="17490760" y="0"/>
                  </a:lnTo>
                  <a:cubicBezTo>
                    <a:pt x="17602915" y="0"/>
                    <a:pt x="17710476" y="44553"/>
                    <a:pt x="17789781" y="123859"/>
                  </a:cubicBezTo>
                  <a:cubicBezTo>
                    <a:pt x="17869086" y="203164"/>
                    <a:pt x="17913640" y="310725"/>
                    <a:pt x="17913640" y="422880"/>
                  </a:cubicBezTo>
                  <a:lnTo>
                    <a:pt x="17913640" y="6650680"/>
                  </a:lnTo>
                  <a:cubicBezTo>
                    <a:pt x="17913640" y="6762834"/>
                    <a:pt x="17869086" y="6870396"/>
                    <a:pt x="17789781" y="6949701"/>
                  </a:cubicBezTo>
                  <a:cubicBezTo>
                    <a:pt x="17710476" y="7029007"/>
                    <a:pt x="17602915" y="7073560"/>
                    <a:pt x="17490760" y="7073560"/>
                  </a:cubicBezTo>
                  <a:lnTo>
                    <a:pt x="422880" y="7073560"/>
                  </a:lnTo>
                  <a:cubicBezTo>
                    <a:pt x="189330" y="7073560"/>
                    <a:pt x="0" y="6884230"/>
                    <a:pt x="0" y="6650680"/>
                  </a:cubicBezTo>
                  <a:lnTo>
                    <a:pt x="0" y="422880"/>
                  </a:lnTo>
                  <a:cubicBezTo>
                    <a:pt x="0" y="189330"/>
                    <a:pt x="189330" y="0"/>
                    <a:pt x="422880" y="0"/>
                  </a:cubicBezTo>
                  <a:close/>
                </a:path>
              </a:pathLst>
            </a:custGeom>
            <a:blipFill>
              <a:blip r:embed="rId12">
                <a:alphaModFix amt="40000"/>
              </a:blip>
              <a:stretch>
                <a:fillRect t="-40445" b="-40445"/>
              </a:stretch>
            </a:blipFill>
          </p:spPr>
        </p:sp>
      </p:grpSp>
      <p:sp>
        <p:nvSpPr>
          <p:cNvPr id="48" name="Freeform 48"/>
          <p:cNvSpPr/>
          <p:nvPr/>
        </p:nvSpPr>
        <p:spPr>
          <a:xfrm rot="-1947032">
            <a:off x="-36388366" y="5928412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7"/>
                </a:lnTo>
                <a:lnTo>
                  <a:pt x="0" y="72475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0" name="Group 50"/>
          <p:cNvGrpSpPr/>
          <p:nvPr/>
        </p:nvGrpSpPr>
        <p:grpSpPr>
          <a:xfrm>
            <a:off x="15063788" y="0"/>
            <a:ext cx="7441042" cy="6567166"/>
            <a:chOff x="0" y="0"/>
            <a:chExt cx="9921390" cy="8756221"/>
          </a:xfrm>
        </p:grpSpPr>
        <p:sp>
          <p:nvSpPr>
            <p:cNvPr id="51" name="Freeform 51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2">
                <a:alphaModFix amt="6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2" name="Group 52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61" name="Freeform 61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16907795" y="9691688"/>
            <a:ext cx="770605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12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06148" y="3273028"/>
            <a:ext cx="3143250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BFC5FA"/>
                </a:solidFill>
                <a:latin typeface="Inter Bold"/>
                <a:ea typeface="Inter Bold"/>
                <a:cs typeface="Inter Bold"/>
                <a:sym typeface="Inter Bold"/>
              </a:rPr>
              <a:t>2. Evidence Shown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453062" y="3687240"/>
            <a:ext cx="3143250" cy="363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2"/>
              </a:lnSpc>
            </a:pPr>
            <a:r>
              <a:rPr lang="en-US" sz="196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Displays photo/audio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715500" y="3273028"/>
            <a:ext cx="3143250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FBBF24"/>
                </a:solidFill>
                <a:latin typeface="Inter Bold"/>
                <a:ea typeface="Inter Bold"/>
                <a:cs typeface="Inter Bold"/>
                <a:sym typeface="Inter Bold"/>
              </a:rPr>
              <a:t>3. Teacher Reviews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715500" y="3687240"/>
            <a:ext cx="3143250" cy="363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2"/>
              </a:lnSpc>
              <a:spcBef>
                <a:spcPct val="0"/>
              </a:spcBef>
            </a:pPr>
            <a:r>
              <a:rPr lang="en-US" sz="1962" u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Verifies visual/audio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8124" y="0"/>
            <a:ext cx="18288000" cy="10287000"/>
            <a:chOff x="-520749" y="-1428960"/>
            <a:chExt cx="24384000" cy="13716000"/>
          </a:xfrm>
        </p:grpSpPr>
        <p:sp>
          <p:nvSpPr>
            <p:cNvPr id="80" name="Freeform 80" descr="image.png"/>
            <p:cNvSpPr/>
            <p:nvPr/>
          </p:nvSpPr>
          <p:spPr>
            <a:xfrm>
              <a:off x="-520749" y="-142896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14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754743" y="5457825"/>
            <a:ext cx="7396639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774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Full Evidence Transparency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34185" y="6131719"/>
            <a:ext cx="7343775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Teacher can view all the attendence records of the students for each course along with the timestamp.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938923" y="3115258"/>
            <a:ext cx="3657600" cy="1178719"/>
            <a:chOff x="0" y="0"/>
            <a:chExt cx="18998400" cy="6122531"/>
          </a:xfrm>
        </p:grpSpPr>
        <p:sp>
          <p:nvSpPr>
            <p:cNvPr id="84" name="Freeform 84" descr="image.png"/>
            <p:cNvSpPr/>
            <p:nvPr/>
          </p:nvSpPr>
          <p:spPr>
            <a:xfrm>
              <a:off x="0" y="0"/>
              <a:ext cx="18998400" cy="6122531"/>
            </a:xfrm>
            <a:custGeom>
              <a:avLst/>
              <a:gdLst/>
              <a:ahLst/>
              <a:cxnLst/>
              <a:rect l="l" t="t" r="r" b="b"/>
              <a:pathLst>
                <a:path w="18998400" h="6122531">
                  <a:moveTo>
                    <a:pt x="715863" y="0"/>
                  </a:moveTo>
                  <a:lnTo>
                    <a:pt x="18282537" y="0"/>
                  </a:lnTo>
                  <a:cubicBezTo>
                    <a:pt x="18472395" y="0"/>
                    <a:pt x="18654478" y="75421"/>
                    <a:pt x="18788729" y="209672"/>
                  </a:cubicBezTo>
                  <a:cubicBezTo>
                    <a:pt x="18922978" y="343922"/>
                    <a:pt x="18998400" y="526005"/>
                    <a:pt x="18998400" y="715863"/>
                  </a:cubicBezTo>
                  <a:lnTo>
                    <a:pt x="18998400" y="5406668"/>
                  </a:lnTo>
                  <a:cubicBezTo>
                    <a:pt x="18998400" y="5802028"/>
                    <a:pt x="18677897" y="6122531"/>
                    <a:pt x="18282537" y="6122531"/>
                  </a:cubicBezTo>
                  <a:lnTo>
                    <a:pt x="715863" y="6122531"/>
                  </a:lnTo>
                  <a:cubicBezTo>
                    <a:pt x="526005" y="6122531"/>
                    <a:pt x="343922" y="6047110"/>
                    <a:pt x="209672" y="5912860"/>
                  </a:cubicBezTo>
                  <a:cubicBezTo>
                    <a:pt x="75421" y="5778609"/>
                    <a:pt x="0" y="5596527"/>
                    <a:pt x="0" y="5406668"/>
                  </a:cubicBezTo>
                  <a:lnTo>
                    <a:pt x="0" y="715863"/>
                  </a:lnTo>
                  <a:cubicBezTo>
                    <a:pt x="0" y="320503"/>
                    <a:pt x="320503" y="0"/>
                    <a:pt x="715863" y="0"/>
                  </a:cubicBezTo>
                  <a:close/>
                </a:path>
              </a:pathLst>
            </a:custGeom>
            <a:blipFill>
              <a:blip r:embed="rId12">
                <a:alphaModFix amt="8999"/>
              </a:blip>
              <a:stretch>
                <a:fillRect t="-60822" b="-60822"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5172075" y="3086100"/>
            <a:ext cx="3657600" cy="1178719"/>
            <a:chOff x="0" y="0"/>
            <a:chExt cx="18998400" cy="6122531"/>
          </a:xfrm>
        </p:grpSpPr>
        <p:sp>
          <p:nvSpPr>
            <p:cNvPr id="86" name="Freeform 86" descr="image.png"/>
            <p:cNvSpPr/>
            <p:nvPr/>
          </p:nvSpPr>
          <p:spPr>
            <a:xfrm>
              <a:off x="0" y="0"/>
              <a:ext cx="18998400" cy="6122531"/>
            </a:xfrm>
            <a:custGeom>
              <a:avLst/>
              <a:gdLst/>
              <a:ahLst/>
              <a:cxnLst/>
              <a:rect l="l" t="t" r="r" b="b"/>
              <a:pathLst>
                <a:path w="18998400" h="6122531">
                  <a:moveTo>
                    <a:pt x="715863" y="0"/>
                  </a:moveTo>
                  <a:lnTo>
                    <a:pt x="18282537" y="0"/>
                  </a:lnTo>
                  <a:cubicBezTo>
                    <a:pt x="18472395" y="0"/>
                    <a:pt x="18654478" y="75421"/>
                    <a:pt x="18788729" y="209672"/>
                  </a:cubicBezTo>
                  <a:cubicBezTo>
                    <a:pt x="18922978" y="343922"/>
                    <a:pt x="18998400" y="526005"/>
                    <a:pt x="18998400" y="715863"/>
                  </a:cubicBezTo>
                  <a:lnTo>
                    <a:pt x="18998400" y="5406668"/>
                  </a:lnTo>
                  <a:cubicBezTo>
                    <a:pt x="18998400" y="5802028"/>
                    <a:pt x="18677897" y="6122531"/>
                    <a:pt x="18282537" y="6122531"/>
                  </a:cubicBezTo>
                  <a:lnTo>
                    <a:pt x="715863" y="6122531"/>
                  </a:lnTo>
                  <a:cubicBezTo>
                    <a:pt x="526005" y="6122531"/>
                    <a:pt x="343922" y="6047110"/>
                    <a:pt x="209672" y="5912860"/>
                  </a:cubicBezTo>
                  <a:cubicBezTo>
                    <a:pt x="75421" y="5778609"/>
                    <a:pt x="0" y="5596527"/>
                    <a:pt x="0" y="5406668"/>
                  </a:cubicBezTo>
                  <a:lnTo>
                    <a:pt x="0" y="715863"/>
                  </a:lnTo>
                  <a:cubicBezTo>
                    <a:pt x="0" y="320503"/>
                    <a:pt x="320503" y="0"/>
                    <a:pt x="715863" y="0"/>
                  </a:cubicBezTo>
                  <a:close/>
                </a:path>
              </a:pathLst>
            </a:custGeom>
            <a:blipFill>
              <a:blip r:embed="rId12">
                <a:alphaModFix amt="8999"/>
              </a:blip>
              <a:stretch>
                <a:fillRect t="-60822" b="-60822"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9444038" y="3056942"/>
            <a:ext cx="3657600" cy="1178719"/>
            <a:chOff x="0" y="0"/>
            <a:chExt cx="18998400" cy="6122531"/>
          </a:xfrm>
        </p:grpSpPr>
        <p:sp>
          <p:nvSpPr>
            <p:cNvPr id="88" name="Freeform 88" descr="image.png"/>
            <p:cNvSpPr/>
            <p:nvPr/>
          </p:nvSpPr>
          <p:spPr>
            <a:xfrm>
              <a:off x="0" y="0"/>
              <a:ext cx="18998400" cy="6122531"/>
            </a:xfrm>
            <a:custGeom>
              <a:avLst/>
              <a:gdLst/>
              <a:ahLst/>
              <a:cxnLst/>
              <a:rect l="l" t="t" r="r" b="b"/>
              <a:pathLst>
                <a:path w="18998400" h="6122531">
                  <a:moveTo>
                    <a:pt x="715863" y="0"/>
                  </a:moveTo>
                  <a:lnTo>
                    <a:pt x="18282537" y="0"/>
                  </a:lnTo>
                  <a:cubicBezTo>
                    <a:pt x="18472395" y="0"/>
                    <a:pt x="18654478" y="75421"/>
                    <a:pt x="18788729" y="209672"/>
                  </a:cubicBezTo>
                  <a:cubicBezTo>
                    <a:pt x="18922978" y="343922"/>
                    <a:pt x="18998400" y="526005"/>
                    <a:pt x="18998400" y="715863"/>
                  </a:cubicBezTo>
                  <a:lnTo>
                    <a:pt x="18998400" y="5406668"/>
                  </a:lnTo>
                  <a:cubicBezTo>
                    <a:pt x="18998400" y="5802028"/>
                    <a:pt x="18677897" y="6122531"/>
                    <a:pt x="18282537" y="6122531"/>
                  </a:cubicBezTo>
                  <a:lnTo>
                    <a:pt x="715863" y="6122531"/>
                  </a:lnTo>
                  <a:cubicBezTo>
                    <a:pt x="526005" y="6122531"/>
                    <a:pt x="343922" y="6047110"/>
                    <a:pt x="209672" y="5912860"/>
                  </a:cubicBezTo>
                  <a:cubicBezTo>
                    <a:pt x="75421" y="5778609"/>
                    <a:pt x="0" y="5596527"/>
                    <a:pt x="0" y="5406668"/>
                  </a:cubicBezTo>
                  <a:lnTo>
                    <a:pt x="0" y="715863"/>
                  </a:lnTo>
                  <a:cubicBezTo>
                    <a:pt x="0" y="320503"/>
                    <a:pt x="320503" y="0"/>
                    <a:pt x="715863" y="0"/>
                  </a:cubicBezTo>
                  <a:close/>
                </a:path>
              </a:pathLst>
            </a:custGeom>
            <a:blipFill>
              <a:blip r:embed="rId12">
                <a:alphaModFix amt="8999"/>
              </a:blip>
              <a:stretch>
                <a:fillRect t="-60822" b="-60822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13716000" y="3027785"/>
            <a:ext cx="3657600" cy="1178719"/>
            <a:chOff x="0" y="0"/>
            <a:chExt cx="18998400" cy="6122531"/>
          </a:xfrm>
        </p:grpSpPr>
        <p:sp>
          <p:nvSpPr>
            <p:cNvPr id="90" name="Freeform 90" descr="image.png"/>
            <p:cNvSpPr/>
            <p:nvPr/>
          </p:nvSpPr>
          <p:spPr>
            <a:xfrm>
              <a:off x="0" y="0"/>
              <a:ext cx="18998400" cy="6122531"/>
            </a:xfrm>
            <a:custGeom>
              <a:avLst/>
              <a:gdLst/>
              <a:ahLst/>
              <a:cxnLst/>
              <a:rect l="l" t="t" r="r" b="b"/>
              <a:pathLst>
                <a:path w="18998400" h="6122531">
                  <a:moveTo>
                    <a:pt x="715863" y="0"/>
                  </a:moveTo>
                  <a:lnTo>
                    <a:pt x="18282537" y="0"/>
                  </a:lnTo>
                  <a:cubicBezTo>
                    <a:pt x="18472395" y="0"/>
                    <a:pt x="18654478" y="75421"/>
                    <a:pt x="18788729" y="209672"/>
                  </a:cubicBezTo>
                  <a:cubicBezTo>
                    <a:pt x="18922978" y="343922"/>
                    <a:pt x="18998400" y="526005"/>
                    <a:pt x="18998400" y="715863"/>
                  </a:cubicBezTo>
                  <a:lnTo>
                    <a:pt x="18998400" y="5406668"/>
                  </a:lnTo>
                  <a:cubicBezTo>
                    <a:pt x="18998400" y="5802028"/>
                    <a:pt x="18677897" y="6122531"/>
                    <a:pt x="18282537" y="6122531"/>
                  </a:cubicBezTo>
                  <a:lnTo>
                    <a:pt x="715863" y="6122531"/>
                  </a:lnTo>
                  <a:cubicBezTo>
                    <a:pt x="526005" y="6122531"/>
                    <a:pt x="343922" y="6047110"/>
                    <a:pt x="209672" y="5912860"/>
                  </a:cubicBezTo>
                  <a:cubicBezTo>
                    <a:pt x="75421" y="5778609"/>
                    <a:pt x="0" y="5596527"/>
                    <a:pt x="0" y="5406668"/>
                  </a:cubicBezTo>
                  <a:lnTo>
                    <a:pt x="0" y="715863"/>
                  </a:lnTo>
                  <a:cubicBezTo>
                    <a:pt x="0" y="320503"/>
                    <a:pt x="320503" y="0"/>
                    <a:pt x="715863" y="0"/>
                  </a:cubicBezTo>
                  <a:close/>
                </a:path>
              </a:pathLst>
            </a:custGeom>
            <a:blipFill>
              <a:blip r:embed="rId12">
                <a:alphaModFix amt="21999"/>
              </a:blip>
              <a:stretch>
                <a:fillRect t="-60822" b="-60822"/>
              </a:stretch>
            </a:blipFill>
          </p:spPr>
        </p:sp>
      </p:grpSp>
      <p:sp>
        <p:nvSpPr>
          <p:cNvPr id="91" name="TextBox 91"/>
          <p:cNvSpPr txBox="1"/>
          <p:nvPr/>
        </p:nvSpPr>
        <p:spPr>
          <a:xfrm>
            <a:off x="605905" y="9590657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93" name="Picture 9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1E1D28-2469-724E-5910-6FC34C3A711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859" y="4605624"/>
            <a:ext cx="8286022" cy="46595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DDF0356C-C35B-A93E-A9BA-9E0C43382302}"/>
              </a:ext>
            </a:extLst>
          </p:cNvPr>
          <p:cNvSpPr txBox="1"/>
          <p:nvPr/>
        </p:nvSpPr>
        <p:spPr>
          <a:xfrm>
            <a:off x="11726576" y="9334395"/>
            <a:ext cx="3201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Teacher Attendance Record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-5153" y="-11272"/>
            <a:ext cx="18288000" cy="10287000"/>
            <a:chOff x="-46961" y="180192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5" name="Freeform 15" descr="image.png"/>
            <p:cNvSpPr/>
            <p:nvPr/>
          </p:nvSpPr>
          <p:spPr>
            <a:xfrm>
              <a:off x="-46961" y="180192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" name="Group 2"/>
          <p:cNvGrpSpPr/>
          <p:nvPr/>
        </p:nvGrpSpPr>
        <p:grpSpPr>
          <a:xfrm>
            <a:off x="-1766779" y="4997084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2">
                <a:alphaModFix amt="6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71538" y="1785938"/>
            <a:ext cx="8058150" cy="6321498"/>
            <a:chOff x="0" y="0"/>
            <a:chExt cx="10744200" cy="84286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44200" cy="8428665"/>
            </a:xfrm>
            <a:custGeom>
              <a:avLst/>
              <a:gdLst/>
              <a:ahLst/>
              <a:cxnLst/>
              <a:rect l="l" t="t" r="r" b="b"/>
              <a:pathLst>
                <a:path w="10744200" h="8428665">
                  <a:moveTo>
                    <a:pt x="647700" y="0"/>
                  </a:moveTo>
                  <a:lnTo>
                    <a:pt x="10096500" y="0"/>
                  </a:lnTo>
                  <a:cubicBezTo>
                    <a:pt x="10454215" y="0"/>
                    <a:pt x="10744200" y="289985"/>
                    <a:pt x="10744200" y="647700"/>
                  </a:cubicBezTo>
                  <a:lnTo>
                    <a:pt x="10744200" y="7780965"/>
                  </a:lnTo>
                  <a:cubicBezTo>
                    <a:pt x="10744200" y="8138679"/>
                    <a:pt x="10454215" y="8428665"/>
                    <a:pt x="10096500" y="8428665"/>
                  </a:cubicBezTo>
                  <a:lnTo>
                    <a:pt x="647700" y="8428665"/>
                  </a:lnTo>
                  <a:cubicBezTo>
                    <a:pt x="475919" y="8428665"/>
                    <a:pt x="311174" y="8360425"/>
                    <a:pt x="189707" y="8238958"/>
                  </a:cubicBezTo>
                  <a:cubicBezTo>
                    <a:pt x="68240" y="8117491"/>
                    <a:pt x="0" y="7952746"/>
                    <a:pt x="0" y="7780965"/>
                  </a:cubicBezTo>
                  <a:lnTo>
                    <a:pt x="0" y="647700"/>
                  </a:ln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blipFill>
              <a:blip r:embed="rId6">
                <a:alphaModFix amt="43000"/>
              </a:blip>
              <a:stretch>
                <a:fillRect l="-20043" r="-20043"/>
              </a:stretch>
            </a:blipFill>
            <a:ln w="952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58312" y="1785938"/>
            <a:ext cx="8058150" cy="6321498"/>
            <a:chOff x="0" y="0"/>
            <a:chExt cx="10744200" cy="84286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44200" cy="8428665"/>
            </a:xfrm>
            <a:custGeom>
              <a:avLst/>
              <a:gdLst/>
              <a:ahLst/>
              <a:cxnLst/>
              <a:rect l="l" t="t" r="r" b="b"/>
              <a:pathLst>
                <a:path w="10744200" h="8428665">
                  <a:moveTo>
                    <a:pt x="647700" y="0"/>
                  </a:moveTo>
                  <a:lnTo>
                    <a:pt x="10096500" y="0"/>
                  </a:lnTo>
                  <a:cubicBezTo>
                    <a:pt x="10454215" y="0"/>
                    <a:pt x="10744200" y="289985"/>
                    <a:pt x="10744200" y="647700"/>
                  </a:cubicBezTo>
                  <a:lnTo>
                    <a:pt x="10744200" y="7780965"/>
                  </a:lnTo>
                  <a:cubicBezTo>
                    <a:pt x="10744200" y="8138679"/>
                    <a:pt x="10454215" y="8428665"/>
                    <a:pt x="10096500" y="8428665"/>
                  </a:cubicBezTo>
                  <a:lnTo>
                    <a:pt x="647700" y="8428665"/>
                  </a:lnTo>
                  <a:cubicBezTo>
                    <a:pt x="475919" y="8428665"/>
                    <a:pt x="311174" y="8360425"/>
                    <a:pt x="189707" y="8238958"/>
                  </a:cubicBezTo>
                  <a:cubicBezTo>
                    <a:pt x="68240" y="8117491"/>
                    <a:pt x="0" y="7952746"/>
                    <a:pt x="0" y="7780965"/>
                  </a:cubicBezTo>
                  <a:lnTo>
                    <a:pt x="0" y="647700"/>
                  </a:ln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blipFill>
              <a:blip r:embed="rId7">
                <a:alphaModFix amt="43000"/>
              </a:blip>
              <a:stretch>
                <a:fillRect t="-13736" b="-13736"/>
              </a:stretch>
            </a:blipFill>
            <a:ln w="95250" cap="rnd">
              <a:solidFill>
                <a:srgbClr val="000000">
                  <a:alpha val="42745"/>
                </a:srgbClr>
              </a:solidFill>
              <a:prstDash val="solid"/>
              <a:round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6" r="-8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5501938" y="728662"/>
            <a:ext cx="1914525" cy="500062"/>
            <a:chOff x="0" y="0"/>
            <a:chExt cx="2552700" cy="6667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2552700" cy="666750"/>
            </a:xfrm>
            <a:custGeom>
              <a:avLst/>
              <a:gdLst/>
              <a:ahLst/>
              <a:cxnLst/>
              <a:rect l="l" t="t" r="r" b="b"/>
              <a:pathLst>
                <a:path w="2552700" h="666750">
                  <a:moveTo>
                    <a:pt x="0" y="0"/>
                  </a:moveTo>
                  <a:lnTo>
                    <a:pt x="2552700" y="0"/>
                  </a:lnTo>
                  <a:lnTo>
                    <a:pt x="25527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6802100" y="9691688"/>
            <a:ext cx="891589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13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28725" y="2357438"/>
            <a:ext cx="342900" cy="342900"/>
            <a:chOff x="0" y="0"/>
            <a:chExt cx="457200" cy="4572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083" b="-2083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714500" y="2338388"/>
            <a:ext cx="392657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874" b="1">
                <a:solidFill>
                  <a:srgbClr val="086C4B"/>
                </a:solidFill>
                <a:latin typeface="Poppins Bold"/>
                <a:ea typeface="Poppins Bold"/>
                <a:cs typeface="Poppins Bold"/>
                <a:sym typeface="Poppins Bold"/>
              </a:rPr>
              <a:t>What Worked Well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14500" y="3238500"/>
            <a:ext cx="6943725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43C39"/>
                </a:solidFill>
                <a:latin typeface="Inter"/>
                <a:ea typeface="Inter"/>
                <a:cs typeface="Inter"/>
                <a:sym typeface="Inter"/>
              </a:rPr>
              <a:t>Reliably rejected un-enrolled persons outside the active roster.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775" y="4710113"/>
            <a:ext cx="6943725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43C39"/>
                </a:solidFill>
                <a:latin typeface="Inter"/>
                <a:ea typeface="Inter"/>
                <a:cs typeface="Inter"/>
                <a:sym typeface="Inter"/>
              </a:rPr>
              <a:t>Voice ID matched consistently in quiet/moderate classroom environments.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28775" y="6372225"/>
            <a:ext cx="6943725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43C39"/>
                </a:solidFill>
                <a:latin typeface="Inter"/>
                <a:ea typeface="Inter"/>
                <a:cs typeface="Inter"/>
                <a:sym typeface="Inter"/>
              </a:rPr>
              <a:t>Fast workflow: full review-and-confirm cycle completed in under 1 minute.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715500" y="2250281"/>
            <a:ext cx="342900" cy="342900"/>
            <a:chOff x="0" y="0"/>
            <a:chExt cx="457200" cy="4572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083" b="-2083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0201275" y="2166938"/>
            <a:ext cx="387945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874" b="1">
                <a:solidFill>
                  <a:srgbClr val="E2A402"/>
                </a:solidFill>
                <a:latin typeface="Poppins Bold"/>
                <a:ea typeface="Poppins Bold"/>
                <a:cs typeface="Poppins Bold"/>
                <a:sym typeface="Poppins Bold"/>
              </a:rPr>
              <a:t>Worth Improving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115550" y="3254869"/>
            <a:ext cx="6943725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856104"/>
                </a:solidFill>
                <a:latin typeface="Inter"/>
                <a:ea typeface="Inter"/>
                <a:cs typeface="Inter"/>
                <a:sym typeface="Inter"/>
              </a:rPr>
              <a:t>Single-photo enrollment had lower accuracy under extreme lighting/angles.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15550" y="4765712"/>
            <a:ext cx="6943725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43C39"/>
                </a:solidFill>
                <a:latin typeface="Inter"/>
                <a:ea typeface="Inter"/>
                <a:cs typeface="Inter"/>
                <a:sym typeface="Inter"/>
              </a:rPr>
              <a:t>Voice matching accuracy degraded in noisy ambient backgrounds.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65556" y="6465094"/>
            <a:ext cx="6943725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43C39"/>
                </a:solidFill>
                <a:latin typeface="Inter"/>
                <a:ea typeface="Inter"/>
                <a:cs typeface="Inter"/>
                <a:sym typeface="Inter"/>
              </a:rPr>
              <a:t>Requires full large-scale benchmarking across full-size lecture halls.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28725" y="3365537"/>
            <a:ext cx="200025" cy="228600"/>
            <a:chOff x="0" y="0"/>
            <a:chExt cx="266700" cy="3048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228725" y="4946687"/>
            <a:ext cx="200025" cy="228600"/>
            <a:chOff x="0" y="0"/>
            <a:chExt cx="266700" cy="30480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200150" y="6531769"/>
            <a:ext cx="200025" cy="228600"/>
            <a:chOff x="0" y="0"/>
            <a:chExt cx="266700" cy="304800"/>
          </a:xfrm>
        </p:grpSpPr>
        <p:sp>
          <p:nvSpPr>
            <p:cNvPr id="42" name="Freeform 42" descr="image.png"/>
            <p:cNvSpPr/>
            <p:nvPr/>
          </p:nvSpPr>
          <p:spPr>
            <a:xfrm>
              <a:off x="0" y="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9829800" y="3478530"/>
            <a:ext cx="57150" cy="228600"/>
            <a:chOff x="0" y="0"/>
            <a:chExt cx="76200" cy="30480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0" y="0"/>
                  </a:moveTo>
                  <a:lnTo>
                    <a:pt x="76200" y="0"/>
                  </a:lnTo>
                  <a:lnTo>
                    <a:pt x="762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9944100" y="4832387"/>
            <a:ext cx="57150" cy="228600"/>
            <a:chOff x="0" y="0"/>
            <a:chExt cx="76200" cy="30480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0" y="0"/>
                  </a:moveTo>
                  <a:lnTo>
                    <a:pt x="76200" y="0"/>
                  </a:lnTo>
                  <a:lnTo>
                    <a:pt x="762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9886950" y="6646069"/>
            <a:ext cx="57150" cy="228600"/>
            <a:chOff x="0" y="0"/>
            <a:chExt cx="76200" cy="304800"/>
          </a:xfrm>
        </p:grpSpPr>
        <p:sp>
          <p:nvSpPr>
            <p:cNvPr id="48" name="Freeform 48" descr="image.png"/>
            <p:cNvSpPr/>
            <p:nvPr/>
          </p:nvSpPr>
          <p:spPr>
            <a:xfrm>
              <a:off x="0" y="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0" y="0"/>
                  </a:moveTo>
                  <a:lnTo>
                    <a:pt x="76200" y="0"/>
                  </a:lnTo>
                  <a:lnTo>
                    <a:pt x="762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solidFill>
              <a:srgbClr val="3A73AE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 | EVALUATION &amp; FINDINGS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4776141" y="-325785"/>
            <a:ext cx="7441042" cy="6567166"/>
            <a:chOff x="0" y="0"/>
            <a:chExt cx="9921390" cy="8756221"/>
          </a:xfrm>
        </p:grpSpPr>
        <p:sp>
          <p:nvSpPr>
            <p:cNvPr id="55" name="Freeform 55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2">
                <a:alphaModFix amt="6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6" name="Group 56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65" name="Freeform 65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66" name="Freeform 66"/>
          <p:cNvSpPr/>
          <p:nvPr/>
        </p:nvSpPr>
        <p:spPr>
          <a:xfrm rot="-1947032">
            <a:off x="-34342428" y="5170713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7" name="TextBox 67"/>
          <p:cNvSpPr txBox="1"/>
          <p:nvPr/>
        </p:nvSpPr>
        <p:spPr>
          <a:xfrm>
            <a:off x="672227" y="9605010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" r="-8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" name="Group 2"/>
          <p:cNvGrpSpPr/>
          <p:nvPr/>
        </p:nvGrpSpPr>
        <p:grpSpPr>
          <a:xfrm>
            <a:off x="-1651897" y="5003608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alphaModFix amt="61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0784"/>
                </a:srgbClr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0784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0784"/>
                </a:srgbClr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1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4444662" y="728662"/>
            <a:ext cx="2971800" cy="500062"/>
            <a:chOff x="0" y="0"/>
            <a:chExt cx="3962400" cy="6667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962400" cy="666750"/>
            </a:xfrm>
            <a:custGeom>
              <a:avLst/>
              <a:gdLst/>
              <a:ahLst/>
              <a:cxnLst/>
              <a:rect l="l" t="t" r="r" b="b"/>
              <a:pathLst>
                <a:path w="3962400" h="666750">
                  <a:moveTo>
                    <a:pt x="0" y="0"/>
                  </a:moveTo>
                  <a:lnTo>
                    <a:pt x="3962400" y="0"/>
                  </a:lnTo>
                  <a:lnTo>
                    <a:pt x="39624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71538" y="728662"/>
            <a:ext cx="16544925" cy="808020"/>
            <a:chOff x="0" y="0"/>
            <a:chExt cx="22059900" cy="10773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059900" cy="1077361"/>
            </a:xfrm>
            <a:custGeom>
              <a:avLst/>
              <a:gdLst/>
              <a:ahLst/>
              <a:cxnLst/>
              <a:rect l="l" t="t" r="r" b="b"/>
              <a:pathLst>
                <a:path w="22059900" h="1077361">
                  <a:moveTo>
                    <a:pt x="0" y="0"/>
                  </a:moveTo>
                  <a:lnTo>
                    <a:pt x="22059900" y="0"/>
                  </a:lnTo>
                  <a:lnTo>
                    <a:pt x="22059900" y="1077361"/>
                  </a:lnTo>
                  <a:lnTo>
                    <a:pt x="0" y="1077361"/>
                  </a:lnTo>
                  <a:close/>
                </a:path>
              </a:pathLst>
            </a:custGeom>
            <a:solidFill>
              <a:srgbClr val="3A73AE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2059900" cy="10678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825" b="1" u="none" strike="noStrike">
                  <a:solidFill>
                    <a:srgbClr val="7575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11 | FUTURE ROADMAP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1538" y="1428750"/>
            <a:ext cx="16544925" cy="14288"/>
            <a:chOff x="0" y="0"/>
            <a:chExt cx="22059900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912248" y="3160383"/>
            <a:ext cx="5174456" cy="5174456"/>
          </a:xfrm>
          <a:custGeom>
            <a:avLst/>
            <a:gdLst/>
            <a:ahLst/>
            <a:cxnLst/>
            <a:rect l="l" t="t" r="r" b="b"/>
            <a:pathLst>
              <a:path w="5174456" h="5174456">
                <a:moveTo>
                  <a:pt x="0" y="0"/>
                </a:moveTo>
                <a:lnTo>
                  <a:pt x="5174457" y="0"/>
                </a:lnTo>
                <a:lnTo>
                  <a:pt x="5174457" y="5174456"/>
                </a:lnTo>
                <a:lnTo>
                  <a:pt x="0" y="5174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931987" y="3183485"/>
            <a:ext cx="5103406" cy="5174456"/>
            <a:chOff x="0" y="0"/>
            <a:chExt cx="7048500" cy="714663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7048500" cy="7146630"/>
            </a:xfrm>
            <a:custGeom>
              <a:avLst/>
              <a:gdLst/>
              <a:ahLst/>
              <a:cxnLst/>
              <a:rect l="l" t="t" r="r" b="b"/>
              <a:pathLst>
                <a:path w="7048500" h="7146630">
                  <a:moveTo>
                    <a:pt x="0" y="0"/>
                  </a:moveTo>
                  <a:lnTo>
                    <a:pt x="7048500" y="0"/>
                  </a:lnTo>
                  <a:lnTo>
                    <a:pt x="7048500" y="7146630"/>
                  </a:lnTo>
                  <a:lnTo>
                    <a:pt x="0" y="7146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8042" r="-28042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143000" y="3343275"/>
            <a:ext cx="685800" cy="685800"/>
            <a:chOff x="0" y="0"/>
            <a:chExt cx="914400" cy="9144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285875" y="3500438"/>
            <a:ext cx="400050" cy="314325"/>
            <a:chOff x="0" y="0"/>
            <a:chExt cx="533400" cy="4191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533400" cy="419100"/>
            </a:xfrm>
            <a:custGeom>
              <a:avLst/>
              <a:gdLst/>
              <a:ahLst/>
              <a:cxnLst/>
              <a:rect l="l" t="t" r="r" b="b"/>
              <a:pathLst>
                <a:path w="533400" h="419100">
                  <a:moveTo>
                    <a:pt x="0" y="0"/>
                  </a:moveTo>
                  <a:lnTo>
                    <a:pt x="533400" y="0"/>
                  </a:lnTo>
                  <a:lnTo>
                    <a:pt x="533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6802100" y="9691688"/>
            <a:ext cx="845385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14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86105" y="4349228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QR Code Scanning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4793" y="5078245"/>
            <a:ext cx="4572000" cy="131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 QR code scanning for instant sharing to enroll in the courses for the students.</a:t>
            </a:r>
          </a:p>
        </p:txBody>
      </p:sp>
      <p:sp>
        <p:nvSpPr>
          <p:cNvPr id="35" name="Freeform 35"/>
          <p:cNvSpPr/>
          <p:nvPr/>
        </p:nvSpPr>
        <p:spPr>
          <a:xfrm>
            <a:off x="6521168" y="3160383"/>
            <a:ext cx="5174456" cy="5174456"/>
          </a:xfrm>
          <a:custGeom>
            <a:avLst/>
            <a:gdLst/>
            <a:ahLst/>
            <a:cxnLst/>
            <a:rect l="l" t="t" r="r" b="b"/>
            <a:pathLst>
              <a:path w="5174456" h="5174456">
                <a:moveTo>
                  <a:pt x="0" y="0"/>
                </a:moveTo>
                <a:lnTo>
                  <a:pt x="5174456" y="0"/>
                </a:lnTo>
                <a:lnTo>
                  <a:pt x="5174456" y="5174456"/>
                </a:lnTo>
                <a:lnTo>
                  <a:pt x="0" y="5174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186047" y="3160383"/>
            <a:ext cx="5174456" cy="5174456"/>
          </a:xfrm>
          <a:custGeom>
            <a:avLst/>
            <a:gdLst/>
            <a:ahLst/>
            <a:cxnLst/>
            <a:rect l="l" t="t" r="r" b="b"/>
            <a:pathLst>
              <a:path w="5174456" h="5174456">
                <a:moveTo>
                  <a:pt x="0" y="0"/>
                </a:moveTo>
                <a:lnTo>
                  <a:pt x="5174456" y="0"/>
                </a:lnTo>
                <a:lnTo>
                  <a:pt x="5174456" y="5174456"/>
                </a:lnTo>
                <a:lnTo>
                  <a:pt x="0" y="5174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6556693" y="3183485"/>
            <a:ext cx="5103406" cy="5174456"/>
            <a:chOff x="0" y="0"/>
            <a:chExt cx="7048500" cy="714663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7048500" cy="7146630"/>
            </a:xfrm>
            <a:custGeom>
              <a:avLst/>
              <a:gdLst/>
              <a:ahLst/>
              <a:cxnLst/>
              <a:rect l="l" t="t" r="r" b="b"/>
              <a:pathLst>
                <a:path w="7048500" h="7146630">
                  <a:moveTo>
                    <a:pt x="0" y="0"/>
                  </a:moveTo>
                  <a:lnTo>
                    <a:pt x="7048500" y="0"/>
                  </a:lnTo>
                  <a:lnTo>
                    <a:pt x="7048500" y="7146630"/>
                  </a:lnTo>
                  <a:lnTo>
                    <a:pt x="0" y="7146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8042" r="-28042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6771565" y="3500438"/>
            <a:ext cx="685800" cy="685800"/>
            <a:chOff x="0" y="0"/>
            <a:chExt cx="914400" cy="91440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041" r="-1041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6841122" y="3686175"/>
            <a:ext cx="357188" cy="314325"/>
            <a:chOff x="0" y="0"/>
            <a:chExt cx="476250" cy="419100"/>
          </a:xfrm>
        </p:grpSpPr>
        <p:sp>
          <p:nvSpPr>
            <p:cNvPr id="42" name="Freeform 42" descr="image.png"/>
            <p:cNvSpPr/>
            <p:nvPr/>
          </p:nvSpPr>
          <p:spPr>
            <a:xfrm>
              <a:off x="0" y="0"/>
              <a:ext cx="476250" cy="419100"/>
            </a:xfrm>
            <a:custGeom>
              <a:avLst/>
              <a:gdLst/>
              <a:ahLst/>
              <a:cxnLst/>
              <a:rect l="l" t="t" r="r" b="b"/>
              <a:pathLst>
                <a:path w="476250" h="419100">
                  <a:moveTo>
                    <a:pt x="0" y="0"/>
                  </a:moveTo>
                  <a:lnTo>
                    <a:pt x="476250" y="0"/>
                  </a:lnTo>
                  <a:lnTo>
                    <a:pt x="4762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000" r="-2000"/>
              </a:stretch>
            </a:blipFill>
          </p:spPr>
        </p:sp>
      </p:grpSp>
      <p:sp>
        <p:nvSpPr>
          <p:cNvPr id="43" name="TextBox 43"/>
          <p:cNvSpPr txBox="1"/>
          <p:nvPr/>
        </p:nvSpPr>
        <p:spPr>
          <a:xfrm>
            <a:off x="6895024" y="5076825"/>
            <a:ext cx="4572000" cy="176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Average multiple face photos and voice samples per student during onboarding to boost angle resilience and accuracy.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514429" y="3871912"/>
            <a:ext cx="685800" cy="685800"/>
            <a:chOff x="0" y="0"/>
            <a:chExt cx="914400" cy="914400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041" r="-1041"/>
              </a:stretch>
            </a:blipFill>
          </p:spPr>
        </p:sp>
      </p:grpSp>
      <p:sp>
        <p:nvSpPr>
          <p:cNvPr id="46" name="TextBox 46"/>
          <p:cNvSpPr txBox="1"/>
          <p:nvPr/>
        </p:nvSpPr>
        <p:spPr>
          <a:xfrm>
            <a:off x="6895024" y="4349228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Multi-Sample Profiles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200449" y="3183485"/>
            <a:ext cx="5103406" cy="5174456"/>
            <a:chOff x="0" y="0"/>
            <a:chExt cx="7048500" cy="7146630"/>
          </a:xfrm>
        </p:grpSpPr>
        <p:sp>
          <p:nvSpPr>
            <p:cNvPr id="48" name="Freeform 48" descr="image.png"/>
            <p:cNvSpPr/>
            <p:nvPr/>
          </p:nvSpPr>
          <p:spPr>
            <a:xfrm>
              <a:off x="0" y="0"/>
              <a:ext cx="7048500" cy="7146630"/>
            </a:xfrm>
            <a:custGeom>
              <a:avLst/>
              <a:gdLst/>
              <a:ahLst/>
              <a:cxnLst/>
              <a:rect l="l" t="t" r="r" b="b"/>
              <a:pathLst>
                <a:path w="7048500" h="7146630">
                  <a:moveTo>
                    <a:pt x="0" y="0"/>
                  </a:moveTo>
                  <a:lnTo>
                    <a:pt x="7048500" y="0"/>
                  </a:lnTo>
                  <a:lnTo>
                    <a:pt x="7048500" y="7146630"/>
                  </a:lnTo>
                  <a:lnTo>
                    <a:pt x="0" y="7146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8042" r="-28042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2543004" y="3557588"/>
            <a:ext cx="314325" cy="314325"/>
            <a:chOff x="0" y="0"/>
            <a:chExt cx="419100" cy="419100"/>
          </a:xfrm>
        </p:grpSpPr>
        <p:sp>
          <p:nvSpPr>
            <p:cNvPr id="50" name="Freeform 50" descr="image.png"/>
            <p:cNvSpPr/>
            <p:nvPr/>
          </p:nvSpPr>
          <p:spPr>
            <a:xfrm>
              <a:off x="0" y="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2272" r="-2272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12514429" y="4167188"/>
            <a:ext cx="48006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874" b="1" u="none" strike="noStrik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Empirical Benchmarking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543004" y="5076825"/>
            <a:ext cx="4572000" cy="176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Conduct formal large-scale classroom benchmarking to publish precision, recall, and processing speed metrics.</a:t>
            </a:r>
          </a:p>
        </p:txBody>
      </p:sp>
      <p:sp>
        <p:nvSpPr>
          <p:cNvPr id="53" name="Freeform 53"/>
          <p:cNvSpPr/>
          <p:nvPr/>
        </p:nvSpPr>
        <p:spPr>
          <a:xfrm rot="-1947032">
            <a:off x="-36277699" y="5754703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4" name="Group 54"/>
          <p:cNvGrpSpPr/>
          <p:nvPr/>
        </p:nvGrpSpPr>
        <p:grpSpPr>
          <a:xfrm>
            <a:off x="15490433" y="24134"/>
            <a:ext cx="7441042" cy="6567166"/>
            <a:chOff x="0" y="0"/>
            <a:chExt cx="9921390" cy="8756221"/>
          </a:xfrm>
        </p:grpSpPr>
        <p:sp>
          <p:nvSpPr>
            <p:cNvPr id="55" name="Freeform 55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alphaModFix amt="68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6" name="Group 56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65" name="Freeform 65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8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66" name="TextBox 66"/>
          <p:cNvSpPr txBox="1"/>
          <p:nvPr/>
        </p:nvSpPr>
        <p:spPr>
          <a:xfrm>
            <a:off x="457914" y="9605010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8" name="Group 18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6" r="-86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6787812" y="9691688"/>
            <a:ext cx="975183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5"/>
              </a:lnSpc>
              <a:spcBef>
                <a:spcPct val="0"/>
              </a:spcBef>
            </a:pPr>
            <a:r>
              <a:rPr lang="en-US" sz="1350" b="1" u="none" strike="noStrike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Slide 15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6864" y="578234"/>
            <a:ext cx="525553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90"/>
              </a:lnSpc>
              <a:spcBef>
                <a:spcPct val="0"/>
              </a:spcBef>
            </a:pPr>
            <a:r>
              <a:rPr lang="en-US" sz="3825" b="1" u="none" strike="noStrike">
                <a:solidFill>
                  <a:srgbClr val="757575"/>
                </a:solidFill>
                <a:latin typeface="Inter Bold"/>
                <a:ea typeface="Inter Bold"/>
                <a:cs typeface="Inter Bold"/>
                <a:sym typeface="Inter Bold"/>
              </a:rPr>
              <a:t>12 | Live System Demo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6864" y="1644196"/>
            <a:ext cx="1593851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0"/>
              </a:lnSpc>
              <a:spcBef>
                <a:spcPct val="0"/>
              </a:spcBef>
            </a:pPr>
            <a:r>
              <a:rPr lang="en-US" sz="2850" u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Interactive Walkthrough: Student Onboarding, Teacher Course Creation &amp; Dual-Modality Attendance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4933340" y="-340436"/>
            <a:ext cx="7441042" cy="6567166"/>
            <a:chOff x="0" y="0"/>
            <a:chExt cx="9921390" cy="8756221"/>
          </a:xfrm>
        </p:grpSpPr>
        <p:sp>
          <p:nvSpPr>
            <p:cNvPr id="28" name="Freeform 28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5">
                <a:alphaModFix amt="68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9" name="Group 29"/>
            <p:cNvGrpSpPr/>
            <p:nvPr/>
          </p:nvGrpSpPr>
          <p:grpSpPr>
            <a:xfrm rot="5400000">
              <a:off x="6218594" y="6128641"/>
              <a:ext cx="3009241" cy="1257089"/>
              <a:chOff x="0" y="0"/>
              <a:chExt cx="406400" cy="16977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>
                  <a:alpha val="67843"/>
                </a:srgbClr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5400000">
              <a:off x="5624705" y="3609773"/>
              <a:ext cx="4197018" cy="1257089"/>
              <a:chOff x="0" y="0"/>
              <a:chExt cx="566810" cy="16977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>
                  <a:alpha val="67843"/>
                </a:srgbClr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5400000">
              <a:off x="7116855" y="7339162"/>
              <a:ext cx="1999035" cy="835083"/>
              <a:chOff x="0" y="0"/>
              <a:chExt cx="406400" cy="16977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>
                  <a:alpha val="67843"/>
                </a:srgbClr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38" name="Freeform 38"/>
            <p:cNvSpPr/>
            <p:nvPr/>
          </p:nvSpPr>
          <p:spPr>
            <a:xfrm rot="-10800000">
              <a:off x="7094670" y="4563820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8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39" name="Freeform 39"/>
          <p:cNvSpPr/>
          <p:nvPr/>
        </p:nvSpPr>
        <p:spPr>
          <a:xfrm rot="-1947032">
            <a:off x="-36606167" y="5313042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" name="Group 2"/>
          <p:cNvGrpSpPr/>
          <p:nvPr/>
        </p:nvGrpSpPr>
        <p:grpSpPr>
          <a:xfrm>
            <a:off x="-1589289" y="5252396"/>
            <a:ext cx="7441042" cy="6590268"/>
            <a:chOff x="0" y="0"/>
            <a:chExt cx="9921390" cy="8787024"/>
          </a:xfrm>
        </p:grpSpPr>
        <p:sp>
          <p:nvSpPr>
            <p:cNvPr id="3" name="Freeform 3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4" name="Group 4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457914" y="9775507"/>
            <a:ext cx="868608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4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3| Tirtho Mojumdar · Ramisa Anjum · Md Rakibul Hasan · Hafsa Amin Ela</a:t>
            </a:r>
          </a:p>
          <a:p>
            <a:pPr algn="l">
              <a:lnSpc>
                <a:spcPts val="2474"/>
              </a:lnSpc>
            </a:pPr>
            <a:endParaRPr lang="en-US" sz="1649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41" name="Final Project Demo">
            <a:hlinkClick r:id="" action="ppaction://media"/>
            <a:extLst>
              <a:ext uri="{FF2B5EF4-FFF2-40B4-BE49-F238E27FC236}">
                <a16:creationId xmlns:a16="http://schemas.microsoft.com/office/drawing/2014/main" id="{464E4238-906F-1D9D-5088-92614B3D96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725806" y="2703305"/>
            <a:ext cx="11195042" cy="629721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584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7200" y="-342900"/>
            <a:ext cx="19354800" cy="11049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1538" y="9572625"/>
            <a:ext cx="16544925" cy="414338"/>
            <a:chOff x="0" y="0"/>
            <a:chExt cx="22059900" cy="5524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59900" cy="552450"/>
            </a:xfrm>
            <a:custGeom>
              <a:avLst/>
              <a:gdLst/>
              <a:ahLst/>
              <a:cxnLst/>
              <a:rect l="l" t="t" r="r" b="b"/>
              <a:pathLst>
                <a:path w="22059900" h="552450">
                  <a:moveTo>
                    <a:pt x="0" y="0"/>
                  </a:moveTo>
                  <a:lnTo>
                    <a:pt x="22059900" y="0"/>
                  </a:lnTo>
                  <a:lnTo>
                    <a:pt x="220599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r="-8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829842" y="6333601"/>
            <a:ext cx="442912" cy="457200"/>
            <a:chOff x="0" y="0"/>
            <a:chExt cx="590550" cy="6096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90550" cy="609600"/>
            </a:xfrm>
            <a:custGeom>
              <a:avLst/>
              <a:gdLst/>
              <a:ahLst/>
              <a:cxnLst/>
              <a:rect l="l" t="t" r="r" b="b"/>
              <a:pathLst>
                <a:path w="590550" h="609600">
                  <a:moveTo>
                    <a:pt x="0" y="0"/>
                  </a:moveTo>
                  <a:lnTo>
                    <a:pt x="590550" y="0"/>
                  </a:lnTo>
                  <a:lnTo>
                    <a:pt x="5905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" r="-47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71538" y="9691688"/>
            <a:ext cx="310038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SnapClass AI Attendance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02100" y="9691688"/>
            <a:ext cx="614362" cy="23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01354" y="6312170"/>
            <a:ext cx="7956575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GITHUB REPOSITORY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01354" y="6521720"/>
            <a:ext cx="7956575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github.com/tirthomojumder9876-bit/Inteligent-Al-Attendence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15112" y="3174730"/>
            <a:ext cx="5057775" cy="2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CSE445 · SECTION 7 · PROJECT GROUP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82174" y="3560493"/>
            <a:ext cx="5323642" cy="11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72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1319</Words>
  <Application>Microsoft Office PowerPoint</Application>
  <PresentationFormat>Custom</PresentationFormat>
  <Paragraphs>151</Paragraphs>
  <Slides>16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Arimo</vt:lpstr>
      <vt:lpstr>Poppins Bold</vt:lpstr>
      <vt:lpstr>Inter</vt:lpstr>
      <vt:lpstr>Poppins</vt:lpstr>
      <vt:lpstr>Calibri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Final Presentation</dc:title>
  <cp:lastModifiedBy>GCC</cp:lastModifiedBy>
  <cp:revision>10</cp:revision>
  <dcterms:created xsi:type="dcterms:W3CDTF">2006-08-16T00:00:00Z</dcterms:created>
  <dcterms:modified xsi:type="dcterms:W3CDTF">2026-08-20T06:37:08Z</dcterms:modified>
  <dc:identifier>DAHSvjuQKb4</dc:identifier>
</cp:coreProperties>
</file>