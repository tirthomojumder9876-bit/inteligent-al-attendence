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Calibri (MS)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Inter Italics" panose="020B0604020202020204" charset="0"/>
      <p:regular r:id="rId20"/>
    </p:embeddedFont>
    <p:embeddedFont>
      <p:font typeface="Inter Light" panose="020B0604020202020204" charset="0"/>
      <p:regular r:id="rId21"/>
    </p:embeddedFont>
    <p:embeddedFont>
      <p:font typeface="Inter Medium" panose="020B0604020202020204" charset="0"/>
      <p:regular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Bold" panose="00000800000000000000" charset="0"/>
      <p:regular r:id="rId31"/>
    </p:embeddedFont>
    <p:embeddedFont>
      <p:font typeface="Poppins Medium" panose="00000600000000000000" pitchFamily="2" charset="0"/>
      <p:regular r:id="rId32"/>
      <p:italic r:id="rId33"/>
    </p:embeddedFont>
    <p:embeddedFont>
      <p:font typeface="TT Hoves" panose="020B0604020202020204" charset="0"/>
      <p:regular r:id="rId34"/>
    </p:embeddedFont>
    <p:embeddedFont>
      <p:font typeface="TT Hoves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84980" autoAdjust="0"/>
  </p:normalViewPr>
  <p:slideViewPr>
    <p:cSldViewPr>
      <p:cViewPr varScale="1">
        <p:scale>
          <a:sx n="47" d="100"/>
          <a:sy n="47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685800" y="9534525"/>
            <a:ext cx="3200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686300" y="9534525"/>
            <a:ext cx="4343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829800" y="9534525"/>
            <a:ext cx="3200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5800" y="2400300"/>
            <a:ext cx="12344400" cy="678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85800" y="9534525"/>
            <a:ext cx="3200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686300" y="9534525"/>
            <a:ext cx="4343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829800" y="9534525"/>
            <a:ext cx="32004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6.jpe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Relationship Id="rId1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6.jpeg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5" Type="http://schemas.openxmlformats.org/officeDocument/2006/relationships/image" Target="../media/image9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6.jpe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0.svg"/><Relationship Id="rId5" Type="http://schemas.openxmlformats.org/officeDocument/2006/relationships/image" Target="../media/image43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.png"/><Relationship Id="rId3" Type="http://schemas.openxmlformats.org/officeDocument/2006/relationships/image" Target="../media/image1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20.png"/><Relationship Id="rId5" Type="http://schemas.openxmlformats.org/officeDocument/2006/relationships/image" Target="../media/image43.png"/><Relationship Id="rId15" Type="http://schemas.openxmlformats.org/officeDocument/2006/relationships/image" Target="../media/image10.svg"/><Relationship Id="rId10" Type="http://schemas.openxmlformats.org/officeDocument/2006/relationships/image" Target="../media/image48.png"/><Relationship Id="rId4" Type="http://schemas.openxmlformats.org/officeDocument/2006/relationships/image" Target="../media/image13.png"/><Relationship Id="rId9" Type="http://schemas.openxmlformats.org/officeDocument/2006/relationships/image" Target="../media/image47.png"/><Relationship Id="rId1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6.jpeg"/><Relationship Id="rId10" Type="http://schemas.openxmlformats.org/officeDocument/2006/relationships/image" Target="../media/image10.sv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6.jpeg"/><Relationship Id="rId10" Type="http://schemas.openxmlformats.org/officeDocument/2006/relationships/image" Target="../media/image54.png"/><Relationship Id="rId4" Type="http://schemas.openxmlformats.org/officeDocument/2006/relationships/image" Target="../media/image13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6.jpeg"/><Relationship Id="rId4" Type="http://schemas.openxmlformats.org/officeDocument/2006/relationships/image" Target="../media/image13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5.svg"/><Relationship Id="rId3" Type="http://schemas.openxmlformats.org/officeDocument/2006/relationships/image" Target="../media/image12.png"/><Relationship Id="rId21" Type="http://schemas.openxmlformats.org/officeDocument/2006/relationships/image" Target="../media/image70.pn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17" Type="http://schemas.openxmlformats.org/officeDocument/2006/relationships/image" Target="../media/image68.png"/><Relationship Id="rId25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7.sv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3.svg"/><Relationship Id="rId5" Type="http://schemas.openxmlformats.org/officeDocument/2006/relationships/image" Target="../media/image6.jpeg"/><Relationship Id="rId15" Type="http://schemas.openxmlformats.org/officeDocument/2006/relationships/image" Target="../media/image66.png"/><Relationship Id="rId23" Type="http://schemas.openxmlformats.org/officeDocument/2006/relationships/image" Target="../media/image72.png"/><Relationship Id="rId28" Type="http://schemas.openxmlformats.org/officeDocument/2006/relationships/image" Target="../media/image77.svg"/><Relationship Id="rId10" Type="http://schemas.openxmlformats.org/officeDocument/2006/relationships/image" Target="../media/image61.svg"/><Relationship Id="rId19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60.png"/><Relationship Id="rId14" Type="http://schemas.openxmlformats.org/officeDocument/2006/relationships/image" Target="../media/image65.svg"/><Relationship Id="rId22" Type="http://schemas.openxmlformats.org/officeDocument/2006/relationships/image" Target="../media/image71.svg"/><Relationship Id="rId27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10.sv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0" Type="http://schemas.openxmlformats.org/officeDocument/2006/relationships/image" Target="../media/image86.png"/><Relationship Id="rId4" Type="http://schemas.openxmlformats.org/officeDocument/2006/relationships/image" Target="../media/image2.png"/><Relationship Id="rId9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0125" y="2783386"/>
            <a:ext cx="1143000" cy="57150"/>
            <a:chOff x="0" y="0"/>
            <a:chExt cx="1524000" cy="76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0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00125" y="6089152"/>
            <a:ext cx="9429750" cy="1757362"/>
            <a:chOff x="0" y="0"/>
            <a:chExt cx="12573000" cy="23431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2573000" cy="2343150"/>
            </a:xfrm>
            <a:custGeom>
              <a:avLst/>
              <a:gdLst/>
              <a:ahLst/>
              <a:cxnLst/>
              <a:rect l="l" t="t" r="r" b="b"/>
              <a:pathLst>
                <a:path w="12573000" h="2343150">
                  <a:moveTo>
                    <a:pt x="0" y="0"/>
                  </a:moveTo>
                  <a:lnTo>
                    <a:pt x="12573000" y="0"/>
                  </a:lnTo>
                  <a:lnTo>
                    <a:pt x="125730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81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001375" y="2600325"/>
            <a:ext cx="6286500" cy="5429250"/>
            <a:chOff x="0" y="0"/>
            <a:chExt cx="8382000" cy="7239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8382000" cy="7239000"/>
            </a:xfrm>
            <a:custGeom>
              <a:avLst/>
              <a:gdLst/>
              <a:ahLst/>
              <a:cxnLst/>
              <a:rect l="l" t="t" r="r" b="b"/>
              <a:pathLst>
                <a:path w="8382000" h="7239000">
                  <a:moveTo>
                    <a:pt x="0" y="0"/>
                  </a:moveTo>
                  <a:lnTo>
                    <a:pt x="8382000" y="0"/>
                  </a:lnTo>
                  <a:lnTo>
                    <a:pt x="83820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00125" y="714375"/>
            <a:ext cx="5743575" cy="385762"/>
            <a:chOff x="0" y="0"/>
            <a:chExt cx="7658100" cy="5143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58100" cy="514350"/>
            </a:xfrm>
            <a:custGeom>
              <a:avLst/>
              <a:gdLst/>
              <a:ahLst/>
              <a:cxnLst/>
              <a:rect l="l" t="t" r="r" b="b"/>
              <a:pathLst>
                <a:path w="7658100" h="514350">
                  <a:moveTo>
                    <a:pt x="0" y="0"/>
                  </a:moveTo>
                  <a:lnTo>
                    <a:pt x="7658100" y="0"/>
                  </a:lnTo>
                  <a:lnTo>
                    <a:pt x="765810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40110" b="-24011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7658100" cy="514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CSE445: Machine Learning Project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0125" y="714375"/>
            <a:ext cx="1143000" cy="385762"/>
            <a:chOff x="0" y="0"/>
            <a:chExt cx="1524000" cy="5143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1524000" cy="514350"/>
            </a:xfrm>
            <a:custGeom>
              <a:avLst/>
              <a:gdLst/>
              <a:ahLst/>
              <a:cxnLst/>
              <a:rect l="l" t="t" r="r" b="b"/>
              <a:pathLst>
                <a:path w="1524000" h="514350">
                  <a:moveTo>
                    <a:pt x="0" y="0"/>
                  </a:moveTo>
                  <a:lnTo>
                    <a:pt x="1524000" y="0"/>
                  </a:lnTo>
                  <a:lnTo>
                    <a:pt x="1524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00162" y="6828749"/>
            <a:ext cx="228600" cy="228600"/>
            <a:chOff x="0" y="0"/>
            <a:chExt cx="304800" cy="3048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6250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5836444" y="6854440"/>
            <a:ext cx="228600" cy="228600"/>
            <a:chOff x="0" y="0"/>
            <a:chExt cx="304800" cy="3048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6250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300162" y="7252687"/>
            <a:ext cx="228600" cy="228600"/>
            <a:chOff x="0" y="0"/>
            <a:chExt cx="304800" cy="3048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625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5836444" y="7252687"/>
            <a:ext cx="228600" cy="228600"/>
            <a:chOff x="0" y="0"/>
            <a:chExt cx="304800" cy="3048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6250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 rot="-10465216">
            <a:off x="-3630164" y="-1696375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6" y="0"/>
                </a:lnTo>
                <a:lnTo>
                  <a:pt x="8833616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487650" y="792956"/>
            <a:ext cx="1800454" cy="22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Update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0125" y="9501188"/>
            <a:ext cx="1914754" cy="20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30625" y="9501188"/>
            <a:ext cx="85725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 of 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0125" y="3002461"/>
            <a:ext cx="9901238" cy="175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sz="5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AI</a:t>
            </a:r>
          </a:p>
          <a:p>
            <a:pPr algn="l">
              <a:lnSpc>
                <a:spcPts val="7722"/>
              </a:lnSpc>
            </a:pPr>
            <a:r>
              <a:rPr lang="en-US" sz="5850" b="1">
                <a:solidFill>
                  <a:srgbClr val="00C2A8"/>
                </a:solidFill>
                <a:latin typeface="Poppins Bold"/>
                <a:ea typeface="Poppins Bold"/>
                <a:cs typeface="Poppins Bold"/>
                <a:sym typeface="Poppins Bold"/>
              </a:rPr>
              <a:t>Attendance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0125" y="4893764"/>
            <a:ext cx="9429750" cy="62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2475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Facial &amp; Voice Recognition-Based Attendance Tracking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0162" y="6293939"/>
            <a:ext cx="8829675" cy="39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1575" b="1">
                <a:solidFill>
                  <a:srgbClr val="00C2A8"/>
                </a:solidFill>
                <a:latin typeface="Inter Bold"/>
                <a:ea typeface="Inter Bold"/>
                <a:cs typeface="Inter Bold"/>
                <a:sym typeface="Inter Bold"/>
              </a:rPr>
              <a:t>PROJECT TEAM MEMBERS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71625" y="6832102"/>
            <a:ext cx="3380699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Tirtho</a:t>
            </a:r>
            <a:r>
              <a:rPr lang="en-US" sz="135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Majumdar (ID: 2312536042)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12669" y="6847775"/>
            <a:ext cx="3380699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Ramisa</a:t>
            </a:r>
            <a:r>
              <a:rPr lang="en-US" sz="135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Anjum  (ID: 2232552642)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1625" y="7260727"/>
            <a:ext cx="3380699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Md. </a:t>
            </a:r>
            <a:r>
              <a:rPr lang="en-US" sz="1350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Rakibul</a:t>
            </a:r>
            <a:r>
              <a:rPr lang="en-US" sz="135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Hasan (ID: 2212346042)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112669" y="7260727"/>
            <a:ext cx="4317149" cy="33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Hafsa Amin Ela (ID: 2131884642)</a:t>
            </a:r>
          </a:p>
        </p:txBody>
      </p:sp>
      <p:sp>
        <p:nvSpPr>
          <p:cNvPr id="36" name="Freeform 36"/>
          <p:cNvSpPr/>
          <p:nvPr/>
        </p:nvSpPr>
        <p:spPr>
          <a:xfrm rot="-10465216">
            <a:off x="12442442" y="609426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6" y="0"/>
                </a:lnTo>
                <a:lnTo>
                  <a:pt x="8833616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1029950" y="2628900"/>
            <a:ext cx="6229350" cy="5372100"/>
            <a:chOff x="0" y="0"/>
            <a:chExt cx="8305800" cy="7162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8305800" cy="7162800"/>
            </a:xfrm>
            <a:custGeom>
              <a:avLst/>
              <a:gdLst/>
              <a:ahLst/>
              <a:cxnLst/>
              <a:rect l="l" t="t" r="r" b="b"/>
              <a:pathLst>
                <a:path w="8305800" h="7162800">
                  <a:moveTo>
                    <a:pt x="0" y="0"/>
                  </a:moveTo>
                  <a:lnTo>
                    <a:pt x="8305800" y="0"/>
                  </a:lnTo>
                  <a:lnTo>
                    <a:pt x="8305800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14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429750" y="2914650"/>
            <a:ext cx="7858125" cy="5429250"/>
            <a:chOff x="0" y="0"/>
            <a:chExt cx="10477500" cy="7239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7239000"/>
            </a:xfrm>
            <a:custGeom>
              <a:avLst/>
              <a:gdLst/>
              <a:ahLst/>
              <a:cxnLst/>
              <a:rect l="l" t="t" r="r" b="b"/>
              <a:pathLst>
                <a:path w="10477500" h="7239000">
                  <a:moveTo>
                    <a:pt x="0" y="0"/>
                  </a:moveTo>
                  <a:lnTo>
                    <a:pt x="10477500" y="0"/>
                  </a:lnTo>
                  <a:lnTo>
                    <a:pt x="104775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 &amp; Our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59088" y="778669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125" y="9501188"/>
            <a:ext cx="2050647" cy="20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02050" y="9501188"/>
            <a:ext cx="112395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2 of 13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0125" y="628650"/>
            <a:ext cx="1576768" cy="442912"/>
            <a:chOff x="0" y="0"/>
            <a:chExt cx="2102358" cy="5905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102358" cy="590550"/>
            </a:xfrm>
            <a:custGeom>
              <a:avLst/>
              <a:gdLst/>
              <a:ahLst/>
              <a:cxnLst/>
              <a:rect l="l" t="t" r="r" b="b"/>
              <a:pathLst>
                <a:path w="2102358" h="590550">
                  <a:moveTo>
                    <a:pt x="0" y="0"/>
                  </a:moveTo>
                  <a:lnTo>
                    <a:pt x="2102358" y="0"/>
                  </a:lnTo>
                  <a:lnTo>
                    <a:pt x="2102358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429750" y="8558212"/>
            <a:ext cx="7858125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 "Enabling seamless, secure and rapid tracking to preserve institutional integrity."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57325" y="2814638"/>
            <a:ext cx="7770971" cy="471488"/>
            <a:chOff x="0" y="0"/>
            <a:chExt cx="10361295" cy="6286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61294" cy="628650"/>
            </a:xfrm>
            <a:custGeom>
              <a:avLst/>
              <a:gdLst/>
              <a:ahLst/>
              <a:cxnLst/>
              <a:rect l="l" t="t" r="r" b="b"/>
              <a:pathLst>
                <a:path w="10361294" h="628650">
                  <a:moveTo>
                    <a:pt x="0" y="0"/>
                  </a:moveTo>
                  <a:lnTo>
                    <a:pt x="10361294" y="0"/>
                  </a:lnTo>
                  <a:lnTo>
                    <a:pt x="10361294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71148" b="-27114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0361295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FFB347"/>
                  </a:solidFill>
                  <a:latin typeface="Poppins"/>
                  <a:ea typeface="Poppins"/>
                  <a:cs typeface="Poppins"/>
                  <a:sym typeface="Poppins"/>
                </a:rPr>
                <a:t>The Problem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14462" y="5857875"/>
            <a:ext cx="7815977" cy="471488"/>
            <a:chOff x="0" y="0"/>
            <a:chExt cx="10421302" cy="628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21302" cy="628650"/>
            </a:xfrm>
            <a:custGeom>
              <a:avLst/>
              <a:gdLst/>
              <a:ahLst/>
              <a:cxnLst/>
              <a:rect l="l" t="t" r="r" b="b"/>
              <a:pathLst>
                <a:path w="10421302" h="628650">
                  <a:moveTo>
                    <a:pt x="0" y="0"/>
                  </a:moveTo>
                  <a:lnTo>
                    <a:pt x="10421302" y="0"/>
                  </a:lnTo>
                  <a:lnTo>
                    <a:pt x="10421302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73008" b="-27300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0421302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00C2A8"/>
                  </a:solidFill>
                  <a:latin typeface="Poppins"/>
                  <a:ea typeface="Poppins"/>
                  <a:cs typeface="Poppins"/>
                  <a:sym typeface="Poppins"/>
                </a:rPr>
                <a:t>Our Automated Solution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72612" y="2957512"/>
            <a:ext cx="7772400" cy="5343525"/>
            <a:chOff x="0" y="0"/>
            <a:chExt cx="10363200" cy="71247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10363200" cy="7124700"/>
            </a:xfrm>
            <a:custGeom>
              <a:avLst/>
              <a:gdLst/>
              <a:ahLst/>
              <a:cxnLst/>
              <a:rect l="l" t="t" r="r" b="b"/>
              <a:pathLst>
                <a:path w="10363200" h="7124700">
                  <a:moveTo>
                    <a:pt x="0" y="0"/>
                  </a:moveTo>
                  <a:lnTo>
                    <a:pt x="10363200" y="0"/>
                  </a:lnTo>
                  <a:lnTo>
                    <a:pt x="10363200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95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000125" y="2893219"/>
            <a:ext cx="314325" cy="314325"/>
            <a:chOff x="0" y="0"/>
            <a:chExt cx="419100" cy="4191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545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428750" y="3367088"/>
            <a:ext cx="7429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Manual paper-based/roll-call attendance is slow, wasting valuable session time.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8750" y="4438650"/>
            <a:ext cx="7429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Existing physical ID solutions lack accurate biometric verification, making proxy attendance effortless.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0125" y="5936456"/>
            <a:ext cx="271462" cy="314325"/>
            <a:chOff x="0" y="0"/>
            <a:chExt cx="361950" cy="4191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61950" cy="419100"/>
            </a:xfrm>
            <a:custGeom>
              <a:avLst/>
              <a:gdLst/>
              <a:ahLst/>
              <a:cxnLst/>
              <a:rect l="l" t="t" r="r" b="b"/>
              <a:pathLst>
                <a:path w="361950" h="419100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545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428750" y="6410325"/>
            <a:ext cx="74295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Biometric-driven pipeline conducting rapid, contactless detection using facial and voice verification models.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8750" y="7654766"/>
            <a:ext cx="7429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dirty="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Tamper-resistant tracking reporting directly to cloud database storage logs.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00125" y="3529012"/>
            <a:ext cx="257175" cy="271462"/>
            <a:chOff x="0" y="0"/>
            <a:chExt cx="342900" cy="36195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000125" y="4600575"/>
            <a:ext cx="257175" cy="271462"/>
            <a:chOff x="0" y="0"/>
            <a:chExt cx="342900" cy="361950"/>
          </a:xfrm>
        </p:grpSpPr>
        <p:sp>
          <p:nvSpPr>
            <p:cNvPr id="34" name="Freeform 34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000125" y="6572250"/>
            <a:ext cx="257175" cy="271462"/>
            <a:chOff x="0" y="0"/>
            <a:chExt cx="342900" cy="36195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014413" y="7829550"/>
            <a:ext cx="257175" cy="271462"/>
            <a:chOff x="0" y="0"/>
            <a:chExt cx="342900" cy="36195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9" name="Freeform 39"/>
          <p:cNvSpPr/>
          <p:nvPr/>
        </p:nvSpPr>
        <p:spPr>
          <a:xfrm rot="-10465216">
            <a:off x="12594842" y="624666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6" y="0"/>
                </a:lnTo>
                <a:lnTo>
                  <a:pt x="8833616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-10465216">
            <a:off x="-3777519" y="-20924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0125" y="7593806"/>
            <a:ext cx="7858125" cy="1071562"/>
            <a:chOff x="0" y="0"/>
            <a:chExt cx="10477500" cy="14287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1428750"/>
            </a:xfrm>
            <a:custGeom>
              <a:avLst/>
              <a:gdLst/>
              <a:ahLst/>
              <a:cxnLst/>
              <a:rect l="l" t="t" r="r" b="b"/>
              <a:pathLst>
                <a:path w="10477500" h="1428750">
                  <a:moveTo>
                    <a:pt x="0" y="0"/>
                  </a:moveTo>
                  <a:lnTo>
                    <a:pt x="10477500" y="0"/>
                  </a:lnTo>
                  <a:lnTo>
                    <a:pt x="10477500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33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Processing Flow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38375" y="754370"/>
            <a:ext cx="3993299" cy="277197"/>
            <a:chOff x="0" y="0"/>
            <a:chExt cx="5324399" cy="369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24400" cy="369600"/>
            </a:xfrm>
            <a:custGeom>
              <a:avLst/>
              <a:gdLst/>
              <a:ahLst/>
              <a:cxnLst/>
              <a:rect l="l" t="t" r="r" b="b"/>
              <a:pathLst>
                <a:path w="5324400" h="369600">
                  <a:moveTo>
                    <a:pt x="0" y="0"/>
                  </a:moveTo>
                  <a:lnTo>
                    <a:pt x="5324400" y="0"/>
                  </a:lnTo>
                  <a:lnTo>
                    <a:pt x="53244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0698" b="-23069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24399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System Architecture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87662" y="778669"/>
            <a:ext cx="170021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Technical Blueprint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0125" y="9501188"/>
            <a:ext cx="19147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402050" y="9501188"/>
            <a:ext cx="112395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3 of 13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0125" y="714375"/>
            <a:ext cx="1100138" cy="357188"/>
            <a:chOff x="0" y="0"/>
            <a:chExt cx="1466850" cy="4762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1466850" cy="476250"/>
            </a:xfrm>
            <a:custGeom>
              <a:avLst/>
              <a:gdLst/>
              <a:ahLst/>
              <a:cxnLst/>
              <a:rect l="l" t="t" r="r" b="b"/>
              <a:pathLst>
                <a:path w="1466850" h="476250">
                  <a:moveTo>
                    <a:pt x="0" y="0"/>
                  </a:moveTo>
                  <a:lnTo>
                    <a:pt x="1466850" y="0"/>
                  </a:lnTo>
                  <a:lnTo>
                    <a:pt x="14668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00125" y="3021806"/>
            <a:ext cx="8251031" cy="5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The Processing Pipeline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750" y="8558212"/>
            <a:ext cx="7858125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 "Integrated components establishing a robust pipeline from UI capture to DB entry."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4462" y="7712869"/>
            <a:ext cx="7229475" cy="7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 b="1">
                <a:solidFill>
                  <a:srgbClr val="075E54"/>
                </a:solidFill>
                <a:latin typeface="Inter Bold"/>
                <a:ea typeface="Inter Bold"/>
                <a:cs typeface="Inter Bold"/>
                <a:sym typeface="Inter Bold"/>
              </a:rPr>
              <a:t>Modularity First:</a:t>
            </a:r>
            <a:r>
              <a:rPr lang="en-US" sz="1687" b="1">
                <a:solidFill>
                  <a:srgbClr val="075E54"/>
                </a:solidFill>
                <a:latin typeface="Inter Medium"/>
                <a:ea typeface="Inter Medium"/>
                <a:cs typeface="Inter Medium"/>
                <a:sym typeface="Inter Medium"/>
              </a:rPr>
              <a:t> Extensible design makes adding independent voice matching nodes seamless.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00125" y="3893344"/>
            <a:ext cx="457200" cy="457200"/>
            <a:chOff x="0" y="0"/>
            <a:chExt cx="609600" cy="6096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3125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00125" y="5079206"/>
            <a:ext cx="457200" cy="457200"/>
            <a:chOff x="0" y="0"/>
            <a:chExt cx="609600" cy="6096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3125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00125" y="6265069"/>
            <a:ext cx="457200" cy="457200"/>
            <a:chOff x="0" y="0"/>
            <a:chExt cx="609600" cy="6096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312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17747" y="7828101"/>
            <a:ext cx="214312" cy="214312"/>
            <a:chOff x="0" y="0"/>
            <a:chExt cx="285750" cy="2857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666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671638" y="3893344"/>
            <a:ext cx="22860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B3D"/>
                </a:solidFill>
                <a:latin typeface="Inter Bold"/>
                <a:ea typeface="Inter Bold"/>
                <a:cs typeface="Inter Bold"/>
                <a:sym typeface="Inter Bold"/>
              </a:rPr>
              <a:t>Streamlit Capture UI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71638" y="4074319"/>
            <a:ext cx="718661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Initiates secure camera frames directly within browser rendering layout.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71638" y="4990195"/>
            <a:ext cx="3810152" cy="27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B3D"/>
                </a:solidFill>
                <a:latin typeface="Inter Bold"/>
                <a:ea typeface="Inter Bold"/>
                <a:cs typeface="Inter Bold"/>
                <a:sym typeface="Inter Bold"/>
              </a:rPr>
              <a:t>Embedding Extraction via dlib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1695" y="5256809"/>
            <a:ext cx="7186498" cy="79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Detects facial landmarks, formatting frames into standard geometric embeddings.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71638" y="6265050"/>
            <a:ext cx="4095902" cy="27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B3D"/>
                </a:solidFill>
                <a:latin typeface="Inter Bold"/>
                <a:ea typeface="Inter Bold"/>
                <a:cs typeface="Inter Bold"/>
                <a:sym typeface="Inter Bold"/>
              </a:rPr>
              <a:t>Matching &amp; Supabase Logging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71714" y="6480058"/>
            <a:ext cx="7186498" cy="79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Runs verification classifiers and updates logs in Supabase instantly.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850946" y="2402967"/>
            <a:ext cx="7781877" cy="6052576"/>
            <a:chOff x="0" y="0"/>
            <a:chExt cx="10375836" cy="807010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375900" cy="8070088"/>
            </a:xfrm>
            <a:custGeom>
              <a:avLst/>
              <a:gdLst/>
              <a:ahLst/>
              <a:cxnLst/>
              <a:rect l="l" t="t" r="r" b="b"/>
              <a:pathLst>
                <a:path w="10375900" h="8070088">
                  <a:moveTo>
                    <a:pt x="0" y="0"/>
                  </a:moveTo>
                  <a:lnTo>
                    <a:pt x="10375900" y="0"/>
                  </a:lnTo>
                  <a:lnTo>
                    <a:pt x="10375900" y="8070088"/>
                  </a:lnTo>
                  <a:lnTo>
                    <a:pt x="0" y="8070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6" name="Freeform 36"/>
          <p:cNvSpPr/>
          <p:nvPr/>
        </p:nvSpPr>
        <p:spPr>
          <a:xfrm rot="-10465216">
            <a:off x="-3625119" y="-19400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rot="-10465216">
            <a:off x="12747242" y="639906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6" y="0"/>
                </a:lnTo>
                <a:lnTo>
                  <a:pt x="8833616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0125" y="3061087"/>
            <a:ext cx="7858125" cy="5593575"/>
            <a:chOff x="0" y="0"/>
            <a:chExt cx="10477500" cy="74581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7458075"/>
            </a:xfrm>
            <a:custGeom>
              <a:avLst/>
              <a:gdLst/>
              <a:ahLst/>
              <a:cxnLst/>
              <a:rect l="l" t="t" r="r" b="b"/>
              <a:pathLst>
                <a:path w="10477500" h="7458075">
                  <a:moveTo>
                    <a:pt x="0" y="0"/>
                  </a:moveTo>
                  <a:lnTo>
                    <a:pt x="10477500" y="0"/>
                  </a:lnTo>
                  <a:lnTo>
                    <a:pt x="10477500" y="7458075"/>
                  </a:lnTo>
                  <a:lnTo>
                    <a:pt x="0" y="7458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2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429750" y="3061097"/>
            <a:ext cx="7858125" cy="5593556"/>
            <a:chOff x="0" y="0"/>
            <a:chExt cx="10477500" cy="7458075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477500" cy="7458075"/>
            </a:xfrm>
            <a:custGeom>
              <a:avLst/>
              <a:gdLst/>
              <a:ahLst/>
              <a:cxnLst/>
              <a:rect l="l" t="t" r="r" b="b"/>
              <a:pathLst>
                <a:path w="10477500" h="7458075">
                  <a:moveTo>
                    <a:pt x="0" y="0"/>
                  </a:moveTo>
                  <a:lnTo>
                    <a:pt x="10477500" y="0"/>
                  </a:lnTo>
                  <a:lnTo>
                    <a:pt x="10477500" y="7458075"/>
                  </a:lnTo>
                  <a:lnTo>
                    <a:pt x="0" y="7458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2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64469" y="6025753"/>
            <a:ext cx="6972300" cy="1871662"/>
            <a:chOff x="0" y="0"/>
            <a:chExt cx="9296400" cy="24955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9296400" cy="2495550"/>
            </a:xfrm>
            <a:custGeom>
              <a:avLst/>
              <a:gdLst/>
              <a:ahLst/>
              <a:cxnLst/>
              <a:rect l="l" t="t" r="r" b="b"/>
              <a:pathLst>
                <a:path w="9296400" h="2495550">
                  <a:moveTo>
                    <a:pt x="0" y="0"/>
                  </a:moveTo>
                  <a:lnTo>
                    <a:pt x="9296400" y="0"/>
                  </a:lnTo>
                  <a:lnTo>
                    <a:pt x="9296400" y="2495550"/>
                  </a:lnTo>
                  <a:lnTo>
                    <a:pt x="0" y="249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35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872662" y="6382941"/>
            <a:ext cx="6972300" cy="1022899"/>
            <a:chOff x="0" y="0"/>
            <a:chExt cx="9296400" cy="1363866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9296400" cy="1363853"/>
            </a:xfrm>
            <a:custGeom>
              <a:avLst/>
              <a:gdLst/>
              <a:ahLst/>
              <a:cxnLst/>
              <a:rect l="l" t="t" r="r" b="b"/>
              <a:pathLst>
                <a:path w="9296400" h="1363853">
                  <a:moveTo>
                    <a:pt x="0" y="0"/>
                  </a:moveTo>
                  <a:lnTo>
                    <a:pt x="9296400" y="0"/>
                  </a:lnTo>
                  <a:lnTo>
                    <a:pt x="9296400" y="1363853"/>
                  </a:lnTo>
                  <a:lnTo>
                    <a:pt x="0" y="1363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54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Evaluating Models &amp; ML Foundations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228736" y="754370"/>
            <a:ext cx="5400904" cy="277197"/>
            <a:chOff x="0" y="0"/>
            <a:chExt cx="7201205" cy="3695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01200" cy="369600"/>
            </a:xfrm>
            <a:custGeom>
              <a:avLst/>
              <a:gdLst/>
              <a:ahLst/>
              <a:cxnLst/>
              <a:rect l="l" t="t" r="r" b="b"/>
              <a:pathLst>
                <a:path w="7201200" h="369600">
                  <a:moveTo>
                    <a:pt x="0" y="0"/>
                  </a:moveTo>
                  <a:lnTo>
                    <a:pt x="7201200" y="0"/>
                  </a:lnTo>
                  <a:lnTo>
                    <a:pt x="72012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29642" b="-32964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201205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Research &amp; Conceptual Planning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559088" y="778669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125" y="9501188"/>
            <a:ext cx="19147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387762" y="9501188"/>
            <a:ext cx="121443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4 of 13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0125" y="714375"/>
            <a:ext cx="928688" cy="357188"/>
            <a:chOff x="0" y="0"/>
            <a:chExt cx="1238250" cy="4762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0" y="0"/>
                  </a:moveTo>
                  <a:lnTo>
                    <a:pt x="1238250" y="0"/>
                  </a:lnTo>
                  <a:lnTo>
                    <a:pt x="12382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43038" y="4389834"/>
            <a:ext cx="7320915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3038" y="4966097"/>
            <a:ext cx="6972300" cy="105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contrasted baseline traditional Computer Vision models with state-of-the-art Deep Embedding strategies to evaluate overall utility.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72662" y="4389834"/>
            <a:ext cx="7320915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ML Metrics &amp; Logic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72662" y="4966097"/>
            <a:ext cx="6972300" cy="105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Matching leverages kNN classification pipelines. We prioritize Precision and Recall over simple raw accuracy given skewed dataset structures.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72662" y="7624915"/>
            <a:ext cx="6972300" cy="58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462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Anomalous face vectors are labeled "Unknown" via threshold match rejections.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443038" y="3561159"/>
            <a:ext cx="457200" cy="514350"/>
            <a:chOff x="0" y="0"/>
            <a:chExt cx="609600" cy="6858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2777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872662" y="3561159"/>
            <a:ext cx="585788" cy="514350"/>
            <a:chOff x="0" y="0"/>
            <a:chExt cx="781050" cy="6858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781050" cy="685800"/>
            </a:xfrm>
            <a:custGeom>
              <a:avLst/>
              <a:gdLst/>
              <a:ahLst/>
              <a:cxnLst/>
              <a:rect l="l" t="t" r="r" b="b"/>
              <a:pathLst>
                <a:path w="781050" h="68580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2777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660198" y="6208943"/>
            <a:ext cx="1000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6894" y="6085118"/>
            <a:ext cx="6619875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Haar Cascade/LBPH: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Unreliable accuracy across standard environment variations.</a:t>
            </a:r>
          </a:p>
        </p:txBody>
      </p:sp>
      <p:sp>
        <p:nvSpPr>
          <p:cNvPr id="34" name="TextBox 34"/>
          <p:cNvSpPr txBox="1"/>
          <p:nvPr/>
        </p:nvSpPr>
        <p:spPr>
          <a:xfrm rot="-10800000">
            <a:off x="1334062" y="7405840"/>
            <a:ext cx="426148" cy="35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16894" y="7212140"/>
            <a:ext cx="6619875" cy="99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Deep Embeddings (dlib):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Yields high consistency metrics even under varying lighting.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72688" y="6525816"/>
            <a:ext cx="899998" cy="24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72688" y="6994398"/>
            <a:ext cx="614248" cy="24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</a:p>
        </p:txBody>
      </p:sp>
      <p:sp>
        <p:nvSpPr>
          <p:cNvPr id="38" name="Freeform 38"/>
          <p:cNvSpPr/>
          <p:nvPr/>
        </p:nvSpPr>
        <p:spPr>
          <a:xfrm rot="-10465216">
            <a:off x="12899642" y="655146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6" y="0"/>
                </a:lnTo>
                <a:lnTo>
                  <a:pt x="8833616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-10465216">
            <a:off x="-3472719" y="-17876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0125" y="7583538"/>
            <a:ext cx="16287750" cy="771525"/>
            <a:chOff x="0" y="0"/>
            <a:chExt cx="21717000" cy="10287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1717000" cy="1028700"/>
            </a:xfrm>
            <a:custGeom>
              <a:avLst/>
              <a:gdLst/>
              <a:ahLst/>
              <a:cxnLst/>
              <a:rect l="l" t="t" r="r" b="b"/>
              <a:pathLst>
                <a:path w="21717000" h="1028700">
                  <a:moveTo>
                    <a:pt x="0" y="0"/>
                  </a:moveTo>
                  <a:lnTo>
                    <a:pt x="21717000" y="0"/>
                  </a:lnTo>
                  <a:lnTo>
                    <a:pt x="217170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85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00125" y="3360687"/>
            <a:ext cx="5143500" cy="3865664"/>
            <a:chOff x="0" y="0"/>
            <a:chExt cx="6858000" cy="515421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858000" cy="5154168"/>
            </a:xfrm>
            <a:custGeom>
              <a:avLst/>
              <a:gdLst/>
              <a:ahLst/>
              <a:cxnLst/>
              <a:rect l="l" t="t" r="r" b="b"/>
              <a:pathLst>
                <a:path w="6858000" h="5154168">
                  <a:moveTo>
                    <a:pt x="0" y="0"/>
                  </a:moveTo>
                  <a:lnTo>
                    <a:pt x="6858000" y="0"/>
                  </a:lnTo>
                  <a:lnTo>
                    <a:pt x="6858000" y="5154168"/>
                  </a:lnTo>
                  <a:lnTo>
                    <a:pt x="0" y="515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6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572250" y="3360687"/>
            <a:ext cx="5143500" cy="3865664"/>
            <a:chOff x="0" y="0"/>
            <a:chExt cx="6858000" cy="5154219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6858000" cy="5154168"/>
            </a:xfrm>
            <a:custGeom>
              <a:avLst/>
              <a:gdLst/>
              <a:ahLst/>
              <a:cxnLst/>
              <a:rect l="l" t="t" r="r" b="b"/>
              <a:pathLst>
                <a:path w="6858000" h="5154168">
                  <a:moveTo>
                    <a:pt x="0" y="0"/>
                  </a:moveTo>
                  <a:lnTo>
                    <a:pt x="6858000" y="0"/>
                  </a:lnTo>
                  <a:lnTo>
                    <a:pt x="6858000" y="5154168"/>
                  </a:lnTo>
                  <a:lnTo>
                    <a:pt x="0" y="515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6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144375" y="3360687"/>
            <a:ext cx="5143500" cy="3865664"/>
            <a:chOff x="0" y="0"/>
            <a:chExt cx="6858000" cy="515421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6858000" cy="5154168"/>
            </a:xfrm>
            <a:custGeom>
              <a:avLst/>
              <a:gdLst/>
              <a:ahLst/>
              <a:cxnLst/>
              <a:rect l="l" t="t" r="r" b="b"/>
              <a:pathLst>
                <a:path w="6858000" h="5154168">
                  <a:moveTo>
                    <a:pt x="0" y="0"/>
                  </a:moveTo>
                  <a:lnTo>
                    <a:pt x="6858000" y="0"/>
                  </a:lnTo>
                  <a:lnTo>
                    <a:pt x="6858000" y="5154168"/>
                  </a:lnTo>
                  <a:lnTo>
                    <a:pt x="0" y="515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6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Our Operational Tech Ecosystem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227202" y="754351"/>
            <a:ext cx="3686404" cy="277197"/>
            <a:chOff x="0" y="0"/>
            <a:chExt cx="4915205" cy="3695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15200" cy="369600"/>
            </a:xfrm>
            <a:custGeom>
              <a:avLst/>
              <a:gdLst/>
              <a:ahLst/>
              <a:cxnLst/>
              <a:rect l="l" t="t" r="r" b="b"/>
              <a:pathLst>
                <a:path w="4915200" h="369600">
                  <a:moveTo>
                    <a:pt x="0" y="0"/>
                  </a:moveTo>
                  <a:lnTo>
                    <a:pt x="4915200" y="0"/>
                  </a:lnTo>
                  <a:lnTo>
                    <a:pt x="49152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9126" b="-20912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915205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Tech Stack Choices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559088" y="778669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125" y="9501188"/>
            <a:ext cx="19147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402050" y="9501188"/>
            <a:ext cx="120015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5 of 13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0125" y="714375"/>
            <a:ext cx="928688" cy="357188"/>
            <a:chOff x="0" y="0"/>
            <a:chExt cx="1238250" cy="4762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0" y="0"/>
                  </a:moveTo>
                  <a:lnTo>
                    <a:pt x="1238250" y="0"/>
                  </a:lnTo>
                  <a:lnTo>
                    <a:pt x="12382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43038" y="7693085"/>
            <a:ext cx="13390655" cy="38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Collaborative Foundation: GitHub repository has been safely configured for continuous deployment tracking.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3038" y="4689424"/>
            <a:ext cx="4470559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Core AI Engine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3038" y="5275212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face_recognition (dlib)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extracts deep feature embeddings.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3038" y="6057900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Classification matching relies on robust pipelines powered by </a:t>
            </a: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scikit-learn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15162" y="4689424"/>
            <a:ext cx="4470559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System Interfaces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5162" y="5275212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Streamlit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generates immediate, responsive browser portals.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15162" y="6057900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Backend transactions are captured securely using </a:t>
            </a: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Supabase DB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87288" y="4689424"/>
            <a:ext cx="4470559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Security &amp; Extras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87288" y="5275212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bcrypt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protects database security lines through safe hashing strategies.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87288" y="6057900"/>
            <a:ext cx="4257675" cy="72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 b="1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segno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high-speed automated QR code generation tools.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14438" y="7769771"/>
            <a:ext cx="228600" cy="228600"/>
            <a:chOff x="0" y="0"/>
            <a:chExt cx="304800" cy="304800"/>
          </a:xfrm>
        </p:grpSpPr>
        <p:sp>
          <p:nvSpPr>
            <p:cNvPr id="34" name="Freeform 34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6250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443038" y="3860749"/>
            <a:ext cx="514350" cy="514350"/>
            <a:chOff x="0" y="0"/>
            <a:chExt cx="685800" cy="6858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2777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7015162" y="3860749"/>
            <a:ext cx="514350" cy="514350"/>
            <a:chOff x="0" y="0"/>
            <a:chExt cx="685800" cy="685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587288" y="3860749"/>
            <a:ext cx="514350" cy="514350"/>
            <a:chOff x="0" y="0"/>
            <a:chExt cx="685800" cy="6858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41" name="Freeform 41"/>
          <p:cNvSpPr/>
          <p:nvPr/>
        </p:nvSpPr>
        <p:spPr>
          <a:xfrm rot="-10465216">
            <a:off x="12551155" y="5833897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8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rot="-10465216">
            <a:off x="-3320319" y="-16352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8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429750" y="2793206"/>
            <a:ext cx="7858125" cy="5429250"/>
            <a:chOff x="0" y="0"/>
            <a:chExt cx="10477500" cy="7239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7239000"/>
            </a:xfrm>
            <a:custGeom>
              <a:avLst/>
              <a:gdLst/>
              <a:ahLst/>
              <a:cxnLst/>
              <a:rect l="l" t="t" r="r" b="b"/>
              <a:pathLst>
                <a:path w="10477500" h="7239000">
                  <a:moveTo>
                    <a:pt x="0" y="0"/>
                  </a:moveTo>
                  <a:lnTo>
                    <a:pt x="10477500" y="0"/>
                  </a:lnTo>
                  <a:lnTo>
                    <a:pt x="104775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6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 Partitioning &amp; Assembly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54641" y="754370"/>
            <a:ext cx="4493247" cy="277197"/>
            <a:chOff x="0" y="0"/>
            <a:chExt cx="5990996" cy="369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91000" cy="369600"/>
            </a:xfrm>
            <a:custGeom>
              <a:avLst/>
              <a:gdLst/>
              <a:ahLst/>
              <a:cxnLst/>
              <a:rect l="l" t="t" r="r" b="b"/>
              <a:pathLst>
                <a:path w="5991000" h="369600">
                  <a:moveTo>
                    <a:pt x="0" y="0"/>
                  </a:moveTo>
                  <a:lnTo>
                    <a:pt x="5991000" y="0"/>
                  </a:lnTo>
                  <a:lnTo>
                    <a:pt x="59910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65841" b="-26584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990996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Development Environment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402050" y="9501188"/>
            <a:ext cx="120015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6 of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0125" y="714375"/>
            <a:ext cx="957262" cy="357188"/>
            <a:chOff x="0" y="0"/>
            <a:chExt cx="1276350" cy="4762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1276350" cy="476250"/>
            </a:xfrm>
            <a:custGeom>
              <a:avLst/>
              <a:gdLst/>
              <a:ahLst/>
              <a:cxnLst/>
              <a:rect l="l" t="t" r="r" b="b"/>
              <a:pathLst>
                <a:path w="1276350" h="476250">
                  <a:moveTo>
                    <a:pt x="0" y="0"/>
                  </a:moveTo>
                  <a:lnTo>
                    <a:pt x="1276350" y="0"/>
                  </a:lnTo>
                  <a:lnTo>
                    <a:pt x="12763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0125" y="3207544"/>
            <a:ext cx="8251031" cy="5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Configuration Steps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750" y="8436769"/>
            <a:ext cx="7858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Installing all the dependencies from the requirements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8750" y="3874294"/>
            <a:ext cx="7429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Virtual Environments: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Established isolated execution nodes preventing local package version clashes.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5017294"/>
            <a:ext cx="7429500" cy="189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Requirement Dependencies: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Successfully installed crucial processing libraries: </a:t>
            </a:r>
            <a:r>
              <a:rPr lang="en-US" sz="2250">
                <a:solidFill>
                  <a:srgbClr val="0F1B3D"/>
                </a:solidFill>
                <a:latin typeface="Inter"/>
                <a:ea typeface="Inter"/>
                <a:cs typeface="Inter"/>
                <a:sym typeface="Inter"/>
              </a:rPr>
              <a:t>numpy, pandas, scikit-learn, dlib-bin, face_recognition, supabase, bcrypt, segno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72612" y="2836069"/>
            <a:ext cx="7772400" cy="5343525"/>
            <a:chOff x="0" y="0"/>
            <a:chExt cx="10363200" cy="7124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63200" cy="7124700"/>
            </a:xfrm>
            <a:custGeom>
              <a:avLst/>
              <a:gdLst/>
              <a:ahLst/>
              <a:cxnLst/>
              <a:rect l="l" t="t" r="r" b="b"/>
              <a:pathLst>
                <a:path w="10363200" h="7124700">
                  <a:moveTo>
                    <a:pt x="0" y="0"/>
                  </a:moveTo>
                  <a:lnTo>
                    <a:pt x="10363200" y="0"/>
                  </a:lnTo>
                  <a:lnTo>
                    <a:pt x="10363200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4786" r="-2478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000125" y="4036219"/>
            <a:ext cx="257175" cy="271462"/>
            <a:chOff x="0" y="0"/>
            <a:chExt cx="342900" cy="3619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000125" y="5179219"/>
            <a:ext cx="257175" cy="271462"/>
            <a:chOff x="0" y="0"/>
            <a:chExt cx="342900" cy="36195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000125" y="7222331"/>
            <a:ext cx="257175" cy="271462"/>
            <a:chOff x="0" y="0"/>
            <a:chExt cx="342900" cy="3619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 rot="-10465216">
            <a:off x="12703555" y="5986297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465216">
            <a:off x="-3167919" y="-14828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5559088" y="778669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0125" y="9501188"/>
            <a:ext cx="19147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28750" y="7060406"/>
            <a:ext cx="74295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dlib Setup Resolution: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Overcame specific C++ compilers/CMake building system issues by leveraging localized binary compilation paths.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429750" y="2793206"/>
            <a:ext cx="7858125" cy="5429250"/>
            <a:chOff x="0" y="0"/>
            <a:chExt cx="10477500" cy="7239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7239000"/>
            </a:xfrm>
            <a:custGeom>
              <a:avLst/>
              <a:gdLst/>
              <a:ahLst/>
              <a:cxnLst/>
              <a:rect l="l" t="t" r="r" b="b"/>
              <a:pathLst>
                <a:path w="10477500" h="7239000">
                  <a:moveTo>
                    <a:pt x="0" y="0"/>
                  </a:moveTo>
                  <a:lnTo>
                    <a:pt x="10477500" y="0"/>
                  </a:lnTo>
                  <a:lnTo>
                    <a:pt x="104775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6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00125" y="1471613"/>
            <a:ext cx="1710213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 Prototype Verification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97722" y="714375"/>
            <a:ext cx="4343400" cy="277197"/>
            <a:chOff x="0" y="0"/>
            <a:chExt cx="5791200" cy="369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91200" cy="369600"/>
            </a:xfrm>
            <a:custGeom>
              <a:avLst/>
              <a:gdLst/>
              <a:ahLst/>
              <a:cxnLst/>
              <a:rect l="l" t="t" r="r" b="b"/>
              <a:pathLst>
                <a:path w="5791200" h="369600">
                  <a:moveTo>
                    <a:pt x="0" y="0"/>
                  </a:moveTo>
                  <a:lnTo>
                    <a:pt x="5791200" y="0"/>
                  </a:lnTo>
                  <a:lnTo>
                    <a:pt x="57912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55308" b="-25530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791200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Application Verification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402050" y="9501188"/>
            <a:ext cx="120015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7 of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0125" y="714375"/>
            <a:ext cx="957262" cy="357188"/>
            <a:chOff x="0" y="0"/>
            <a:chExt cx="1276350" cy="4762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1276350" cy="476250"/>
            </a:xfrm>
            <a:custGeom>
              <a:avLst/>
              <a:gdLst/>
              <a:ahLst/>
              <a:cxnLst/>
              <a:rect l="l" t="t" r="r" b="b"/>
              <a:pathLst>
                <a:path w="1276350" h="476250">
                  <a:moveTo>
                    <a:pt x="0" y="0"/>
                  </a:moveTo>
                  <a:lnTo>
                    <a:pt x="1276350" y="0"/>
                  </a:lnTo>
                  <a:lnTo>
                    <a:pt x="12763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0125" y="2950369"/>
            <a:ext cx="8251031" cy="5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Basic Application Testing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750" y="8436769"/>
            <a:ext cx="785812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 "Verifying local app deployment structures before expanding modular verification algorithms."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8750" y="3617119"/>
            <a:ext cx="7429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Streamlit App Base Verification: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Developed baseline user interfaces tracking core state reactions.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645" y="8168879"/>
            <a:ext cx="2514600" cy="557212"/>
            <a:chOff x="-40640" y="-14287"/>
            <a:chExt cx="3352800" cy="7429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-40640" y="-14287"/>
              <a:ext cx="3352800" cy="742950"/>
            </a:xfrm>
            <a:custGeom>
              <a:avLst/>
              <a:gdLst/>
              <a:ahLst/>
              <a:cxnLst/>
              <a:rect l="l" t="t" r="r" b="b"/>
              <a:pathLst>
                <a:path w="3352800" h="742950">
                  <a:moveTo>
                    <a:pt x="0" y="0"/>
                  </a:moveTo>
                  <a:lnTo>
                    <a:pt x="3352800" y="0"/>
                  </a:lnTo>
                  <a:lnTo>
                    <a:pt x="33528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424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29038" y="8179594"/>
            <a:ext cx="2286000" cy="557212"/>
            <a:chOff x="0" y="0"/>
            <a:chExt cx="3048000" cy="7429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048000" cy="742950"/>
            </a:xfrm>
            <a:custGeom>
              <a:avLst/>
              <a:gdLst/>
              <a:ahLst/>
              <a:cxnLst/>
              <a:rect l="l" t="t" r="r" b="b"/>
              <a:pathLst>
                <a:path w="3048000" h="742950">
                  <a:moveTo>
                    <a:pt x="0" y="0"/>
                  </a:moveTo>
                  <a:lnTo>
                    <a:pt x="3048000" y="0"/>
                  </a:lnTo>
                  <a:lnTo>
                    <a:pt x="30480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12398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9472612" y="2836069"/>
            <a:ext cx="7772400" cy="5343525"/>
            <a:chOff x="0" y="0"/>
            <a:chExt cx="10363200" cy="7124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63200" cy="7124700"/>
            </a:xfrm>
            <a:custGeom>
              <a:avLst/>
              <a:gdLst/>
              <a:ahLst/>
              <a:cxnLst/>
              <a:rect l="l" t="t" r="r" b="b"/>
              <a:pathLst>
                <a:path w="10363200" h="7124700">
                  <a:moveTo>
                    <a:pt x="0" y="0"/>
                  </a:moveTo>
                  <a:lnTo>
                    <a:pt x="10363200" y="0"/>
                  </a:lnTo>
                  <a:lnTo>
                    <a:pt x="10363200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1240" r="-31240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00125" y="3779044"/>
            <a:ext cx="257175" cy="271462"/>
            <a:chOff x="0" y="0"/>
            <a:chExt cx="342900" cy="3619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00125" y="4922044"/>
            <a:ext cx="257175" cy="271462"/>
            <a:chOff x="0" y="0"/>
            <a:chExt cx="342900" cy="3619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000125" y="6493669"/>
            <a:ext cx="257175" cy="271462"/>
            <a:chOff x="0" y="0"/>
            <a:chExt cx="342900" cy="3619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000125" y="8365331"/>
            <a:ext cx="257175" cy="200025"/>
            <a:chOff x="0" y="0"/>
            <a:chExt cx="342900" cy="2667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342900" cy="266700"/>
            </a:xfrm>
            <a:custGeom>
              <a:avLst/>
              <a:gdLst/>
              <a:ahLst/>
              <a:cxnLst/>
              <a:rect l="l" t="t" r="r" b="b"/>
              <a:pathLst>
                <a:path w="342900" h="2667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7142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729038" y="8411756"/>
            <a:ext cx="200025" cy="200025"/>
            <a:chOff x="0" y="0"/>
            <a:chExt cx="266700" cy="2667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142"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 rot="-10465216">
            <a:off x="12006674" y="6545049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-10465216">
            <a:off x="-3288095" y="-20924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559088" y="778669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0125" y="9501188"/>
            <a:ext cx="19147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428750" y="4760119"/>
            <a:ext cx="74295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Import &amp; Render Check: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Validated full import execution safety paths across runtime sequences with zero environment faults.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28750" y="6331744"/>
            <a:ext cx="74295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Version Control Updates: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Safely pushed core configurations and initial setup directories to master repository branch.</a:t>
            </a:r>
          </a:p>
        </p:txBody>
      </p:sp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88DA73-DC19-5769-DC0B-DF18F648A5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955" y="6371325"/>
            <a:ext cx="7709058" cy="1829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572625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00125" y="1471613"/>
            <a:ext cx="17102252" cy="83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Modular Structure &amp; Portals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74434" y="737216"/>
            <a:ext cx="4029304" cy="277197"/>
            <a:chOff x="0" y="0"/>
            <a:chExt cx="5372405" cy="3695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72400" cy="369600"/>
            </a:xfrm>
            <a:custGeom>
              <a:avLst/>
              <a:gdLst/>
              <a:ahLst/>
              <a:cxnLst/>
              <a:rect l="l" t="t" r="r" b="b"/>
              <a:pathLst>
                <a:path w="5372400" h="369600">
                  <a:moveTo>
                    <a:pt x="0" y="0"/>
                  </a:moveTo>
                  <a:lnTo>
                    <a:pt x="5372400" y="0"/>
                  </a:lnTo>
                  <a:lnTo>
                    <a:pt x="53724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33229" b="-23322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372405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Architecture Upgrade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59088" y="778669"/>
            <a:ext cx="1728902" cy="22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0125" y="9801225"/>
            <a:ext cx="1914754" cy="6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330612" y="9801225"/>
            <a:ext cx="119538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8 of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0125" y="714375"/>
            <a:ext cx="957262" cy="357188"/>
            <a:chOff x="0" y="0"/>
            <a:chExt cx="1276350" cy="4762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1276350" cy="476250"/>
            </a:xfrm>
            <a:custGeom>
              <a:avLst/>
              <a:gdLst/>
              <a:ahLst/>
              <a:cxnLst/>
              <a:rect l="l" t="t" r="r" b="b"/>
              <a:pathLst>
                <a:path w="1276350" h="476250">
                  <a:moveTo>
                    <a:pt x="0" y="0"/>
                  </a:moveTo>
                  <a:lnTo>
                    <a:pt x="1276350" y="0"/>
                  </a:lnTo>
                  <a:lnTo>
                    <a:pt x="12763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0125" y="2700337"/>
            <a:ext cx="8251203" cy="47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Structural Re-engineering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750" y="8835923"/>
            <a:ext cx="785835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modular structure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8750" y="3367088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Modular `src/` Package: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Refactored the single monolithic file structure into isolated packages: `components/`, `screens/`, and `ui/`.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4867275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Enhanced Landing Home: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Developed a unified `home_screen()` housing portals for students and teachers through clean mascot-branded blocks.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8750" y="6367462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Role-Based Routing: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Configured session security routing using native Python pattern matching (`match/case`) on authentication states.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8750" y="7867650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SnapClass Brand Identity: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Styled design schemes and structured navigation elements with consistent branding.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0125" y="3529012"/>
            <a:ext cx="257175" cy="271462"/>
            <a:chOff x="0" y="0"/>
            <a:chExt cx="342900" cy="3619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000125" y="5029200"/>
            <a:ext cx="257175" cy="271462"/>
            <a:chOff x="0" y="0"/>
            <a:chExt cx="342900" cy="36195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000125" y="6529388"/>
            <a:ext cx="257175" cy="271462"/>
            <a:chOff x="0" y="0"/>
            <a:chExt cx="342900" cy="3619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000125" y="8029575"/>
            <a:ext cx="257175" cy="271462"/>
            <a:chOff x="0" y="0"/>
            <a:chExt cx="342900" cy="3619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1026835" y="1701994"/>
            <a:ext cx="4663973" cy="6883013"/>
            <a:chOff x="0" y="0"/>
            <a:chExt cx="6218631" cy="91773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18682" cy="9177401"/>
            </a:xfrm>
            <a:custGeom>
              <a:avLst/>
              <a:gdLst/>
              <a:ahLst/>
              <a:cxnLst/>
              <a:rect l="l" t="t" r="r" b="b"/>
              <a:pathLst>
                <a:path w="6218682" h="9177401">
                  <a:moveTo>
                    <a:pt x="0" y="0"/>
                  </a:moveTo>
                  <a:lnTo>
                    <a:pt x="6218682" y="0"/>
                  </a:lnTo>
                  <a:lnTo>
                    <a:pt x="6218682" y="9177401"/>
                  </a:lnTo>
                  <a:lnTo>
                    <a:pt x="0" y="9177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 rot="-10465216">
            <a:off x="12159074" y="6697449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10465216">
            <a:off x="-3135695" y="-19400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4205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572625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00125" y="1471613"/>
            <a:ext cx="17102252" cy="83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Core UI Assembly &amp; Themes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50964" y="737216"/>
            <a:ext cx="3714750" cy="277197"/>
            <a:chOff x="0" y="0"/>
            <a:chExt cx="4953000" cy="3695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53000" cy="369600"/>
            </a:xfrm>
            <a:custGeom>
              <a:avLst/>
              <a:gdLst/>
              <a:ahLst/>
              <a:cxnLst/>
              <a:rect l="l" t="t" r="r" b="b"/>
              <a:pathLst>
                <a:path w="4953000" h="369600">
                  <a:moveTo>
                    <a:pt x="0" y="0"/>
                  </a:moveTo>
                  <a:lnTo>
                    <a:pt x="4953000" y="0"/>
                  </a:lnTo>
                  <a:lnTo>
                    <a:pt x="49530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1119" b="-21111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953000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Reusable UI Elements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59088" y="778669"/>
            <a:ext cx="1728902" cy="22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0125" y="9801225"/>
            <a:ext cx="1914754" cy="6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330611" y="9801225"/>
            <a:ext cx="107899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9 of 13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0125" y="714375"/>
            <a:ext cx="957262" cy="357188"/>
            <a:chOff x="0" y="0"/>
            <a:chExt cx="1276350" cy="4762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1276350" cy="476250"/>
            </a:xfrm>
            <a:custGeom>
              <a:avLst/>
              <a:gdLst/>
              <a:ahLst/>
              <a:cxnLst/>
              <a:rect l="l" t="t" r="r" b="b"/>
              <a:pathLst>
                <a:path w="1276350" h="476250">
                  <a:moveTo>
                    <a:pt x="0" y="0"/>
                  </a:moveTo>
                  <a:lnTo>
                    <a:pt x="1276350" y="0"/>
                  </a:lnTo>
                  <a:lnTo>
                    <a:pt x="12763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00125" y="2700337"/>
            <a:ext cx="8251203" cy="47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Design &amp; Layout Advancements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51251" y="7689994"/>
            <a:ext cx="7858354" cy="2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i="1" dirty="0">
                <a:solidFill>
                  <a:srgbClr val="64748B"/>
                </a:solidFill>
                <a:latin typeface="Inter Italics"/>
                <a:ea typeface="Inter Italics"/>
                <a:cs typeface="Inter Italics"/>
                <a:sym typeface="Inter Italics"/>
              </a:rPr>
              <a:t>Homepage design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8750" y="3367088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Shared Page Shells: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Segmented layout definitions inside specialized modular script units (`header.py` and `footer.py`).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0976" y="4936829"/>
            <a:ext cx="7429500" cy="98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Typography Identity:</a:t>
            </a:r>
            <a:r>
              <a:rPr lang="en-US" sz="2250" dirty="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Standardized custom branding configurations under ‘base_layout.py’.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0976" y="6157123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Immersive Theme Shell:</a:t>
            </a:r>
            <a:r>
              <a:rPr lang="en-US" sz="2250" dirty="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Removed defaults like standard top margins to offer users a tailored native dashboard wrapper.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8750" y="7867650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Structural Placeholders: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Established operational placeholders for screen actions inside the newly structured screens module.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00125" y="3529012"/>
            <a:ext cx="257175" cy="271462"/>
            <a:chOff x="0" y="0"/>
            <a:chExt cx="342900" cy="36195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85837" y="5090371"/>
            <a:ext cx="257175" cy="271462"/>
            <a:chOff x="0" y="0"/>
            <a:chExt cx="342900" cy="3619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000125" y="6393656"/>
            <a:ext cx="257175" cy="271462"/>
            <a:chOff x="0" y="0"/>
            <a:chExt cx="342900" cy="3619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000125" y="8029575"/>
            <a:ext cx="257175" cy="271462"/>
            <a:chOff x="0" y="0"/>
            <a:chExt cx="342900" cy="36195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 rot="-10465216">
            <a:off x="-2983295" y="-17876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10465216">
            <a:off x="12311474" y="6849849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5C84F34-C7CC-0C89-CC99-7BB7411EA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645" r="10237"/>
          <a:stretch/>
        </p:blipFill>
        <p:spPr>
          <a:xfrm>
            <a:off x="9551251" y="3136548"/>
            <a:ext cx="7753350" cy="43669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572625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00125" y="1471613"/>
            <a:ext cx="17102252" cy="83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Obstacles Overcome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57500" y="737216"/>
            <a:ext cx="4572000" cy="277197"/>
            <a:chOff x="0" y="0"/>
            <a:chExt cx="6096000" cy="3695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96000" cy="369600"/>
            </a:xfrm>
            <a:custGeom>
              <a:avLst/>
              <a:gdLst/>
              <a:ahLst/>
              <a:cxnLst/>
              <a:rect l="l" t="t" r="r" b="b"/>
              <a:pathLst>
                <a:path w="6096000" h="369600">
                  <a:moveTo>
                    <a:pt x="0" y="0"/>
                  </a:moveTo>
                  <a:lnTo>
                    <a:pt x="6096000" y="0"/>
                  </a:lnTo>
                  <a:lnTo>
                    <a:pt x="60960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1377" b="-27137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6096000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Technical Challenges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59088" y="778669"/>
            <a:ext cx="1728902" cy="22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0125" y="9801225"/>
            <a:ext cx="1914754" cy="6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520"/>
              </a:lnSpc>
            </a:pPr>
            <a:endParaRPr lang="en-US" sz="13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244888" y="9801225"/>
            <a:ext cx="1128712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10 of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0125" y="714375"/>
            <a:ext cx="1571625" cy="357188"/>
            <a:chOff x="0" y="0"/>
            <a:chExt cx="2095500" cy="4762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2095500" cy="476250"/>
            </a:xfrm>
            <a:custGeom>
              <a:avLst/>
              <a:gdLst/>
              <a:ahLst/>
              <a:cxnLst/>
              <a:rect l="l" t="t" r="r" b="b"/>
              <a:pathLst>
                <a:path w="2095500" h="476250">
                  <a:moveTo>
                    <a:pt x="0" y="0"/>
                  </a:moveTo>
                  <a:lnTo>
                    <a:pt x="2095500" y="0"/>
                  </a:lnTo>
                  <a:lnTo>
                    <a:pt x="209550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0125" y="2700337"/>
            <a:ext cx="8251203" cy="47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System Bug Resolution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8731" y="3610755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 err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dlib</a:t>
            </a:r>
            <a:r>
              <a:rPr lang="en-US" sz="2250" b="1" dirty="0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 Environment Faults:</a:t>
            </a:r>
            <a:r>
              <a:rPr lang="en-US" sz="2250" dirty="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Encountered native environment compiler blocks; circumvented by leveraging local bin setups.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7281" y="6178683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Defective Logo Paths: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Identified broken unhosted static image strings in the footer configurations; corrected to safe cloud references.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47477" y="3610755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Malformed Nested Blocks: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Resolved an unclosed rendering layout in the dashboard shell headers that had mixed container tags.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76046" y="6178683"/>
            <a:ext cx="7429500" cy="151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C1F26"/>
                </a:solidFill>
                <a:latin typeface="Inter Bold"/>
                <a:ea typeface="Inter Bold"/>
                <a:cs typeface="Inter Bold"/>
                <a:sym typeface="Inter Bold"/>
              </a:rPr>
              <a:t>Portal Screen Equivalence:</a:t>
            </a:r>
            <a:r>
              <a:rPr lang="en-US" sz="2250">
                <a:solidFill>
                  <a:srgbClr val="1C1F26"/>
                </a:solidFill>
                <a:latin typeface="Inter"/>
                <a:ea typeface="Inter"/>
                <a:cs typeface="Inter"/>
                <a:sym typeface="Inter"/>
              </a:rPr>
              <a:t> Addressed identical initial routes inside secondary views to preserve logical system flow.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00106" y="3772679"/>
            <a:ext cx="257175" cy="271462"/>
            <a:chOff x="0" y="0"/>
            <a:chExt cx="342900" cy="3619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28675" y="6319177"/>
            <a:ext cx="257175" cy="271462"/>
            <a:chOff x="0" y="0"/>
            <a:chExt cx="342900" cy="3619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018852" y="3772679"/>
            <a:ext cx="257175" cy="271462"/>
            <a:chOff x="0" y="0"/>
            <a:chExt cx="342900" cy="3619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847421" y="6312033"/>
            <a:ext cx="257175" cy="271462"/>
            <a:chOff x="0" y="0"/>
            <a:chExt cx="342900" cy="3619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 rot="-10465216">
            <a:off x="12349631" y="609426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465216">
            <a:off x="-2830895" y="-1635278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01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0125" y="11072812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00125" y="1471613"/>
            <a:ext cx="17102252" cy="83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500" b="1">
                <a:solidFill>
                  <a:srgbClr val="0F1B3D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Implementation Roadmap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432771" y="737216"/>
            <a:ext cx="3464547" cy="277197"/>
            <a:chOff x="0" y="0"/>
            <a:chExt cx="4619396" cy="3695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9400" cy="369600"/>
            </a:xfrm>
            <a:custGeom>
              <a:avLst/>
              <a:gdLst/>
              <a:ahLst/>
              <a:cxnLst/>
              <a:rect l="l" t="t" r="r" b="b"/>
              <a:pathLst>
                <a:path w="4619400" h="369600">
                  <a:moveTo>
                    <a:pt x="0" y="0"/>
                  </a:moveTo>
                  <a:lnTo>
                    <a:pt x="4619400" y="0"/>
                  </a:lnTo>
                  <a:lnTo>
                    <a:pt x="46194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3531" b="-19353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4619396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Next Milestones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0125" y="714375"/>
            <a:ext cx="1228725" cy="357188"/>
            <a:chOff x="0" y="0"/>
            <a:chExt cx="1638300" cy="4762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638300" cy="476250"/>
            </a:xfrm>
            <a:custGeom>
              <a:avLst/>
              <a:gdLst/>
              <a:ahLst/>
              <a:cxnLst/>
              <a:rect l="l" t="t" r="r" b="b"/>
              <a:pathLst>
                <a:path w="1638300" h="476250">
                  <a:moveTo>
                    <a:pt x="0" y="0"/>
                  </a:moveTo>
                  <a:lnTo>
                    <a:pt x="1638300" y="0"/>
                  </a:lnTo>
                  <a:lnTo>
                    <a:pt x="163830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00125" y="2455342"/>
            <a:ext cx="8251203" cy="47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Forward Planning Activities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40468" y="3478975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770421" y="3478975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800374" y="3478975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830327" y="3478975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860280" y="3478975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53883" y="5144663"/>
            <a:ext cx="2470699" cy="3520464"/>
            <a:chOff x="0" y="0"/>
            <a:chExt cx="650719" cy="927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831266" y="5144663"/>
            <a:ext cx="2470699" cy="3520464"/>
            <a:chOff x="0" y="0"/>
            <a:chExt cx="650719" cy="927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08650" y="5144663"/>
            <a:ext cx="2470699" cy="3520464"/>
            <a:chOff x="0" y="0"/>
            <a:chExt cx="650719" cy="927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86034" y="5144663"/>
            <a:ext cx="2470699" cy="3520464"/>
            <a:chOff x="0" y="0"/>
            <a:chExt cx="650719" cy="92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063418" y="5144663"/>
            <a:ext cx="2470699" cy="3520464"/>
            <a:chOff x="0" y="0"/>
            <a:chExt cx="650719" cy="927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61158" y="8809397"/>
            <a:ext cx="2256148" cy="156938"/>
            <a:chOff x="0" y="0"/>
            <a:chExt cx="594212" cy="4133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38542" y="8809397"/>
            <a:ext cx="2256148" cy="156938"/>
            <a:chOff x="0" y="0"/>
            <a:chExt cx="594212" cy="4133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14925" y="8809397"/>
            <a:ext cx="2256148" cy="156938"/>
            <a:chOff x="0" y="0"/>
            <a:chExt cx="594212" cy="4133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091809" y="8809397"/>
            <a:ext cx="2256148" cy="156938"/>
            <a:chOff x="0" y="0"/>
            <a:chExt cx="594212" cy="4133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168692" y="8809397"/>
            <a:ext cx="2256148" cy="156938"/>
            <a:chOff x="0" y="0"/>
            <a:chExt cx="594212" cy="4133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11772328" y="5360482"/>
            <a:ext cx="613528" cy="590102"/>
          </a:xfrm>
          <a:custGeom>
            <a:avLst/>
            <a:gdLst/>
            <a:ahLst/>
            <a:cxnLst/>
            <a:rect l="l" t="t" r="r" b="b"/>
            <a:pathLst>
              <a:path w="613528" h="590102">
                <a:moveTo>
                  <a:pt x="0" y="0"/>
                </a:moveTo>
                <a:lnTo>
                  <a:pt x="613528" y="0"/>
                </a:lnTo>
                <a:lnTo>
                  <a:pt x="613528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720972" y="3885353"/>
            <a:ext cx="210696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Resolve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71811" y="3885353"/>
            <a:ext cx="210696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Implement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72253" y="6478163"/>
            <a:ext cx="2095258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Evaluate performance benchmarks using precision and confusion matrices.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249137" y="6478163"/>
            <a:ext cx="2095258" cy="135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Determine practical limits of adding secondary vocal signature verification pipelines.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729478" y="8009586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397288" y="9953625"/>
            <a:ext cx="1043102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11 of 13</a:t>
            </a:r>
          </a:p>
        </p:txBody>
      </p:sp>
      <p:sp>
        <p:nvSpPr>
          <p:cNvPr id="55" name="Freeform 55"/>
          <p:cNvSpPr/>
          <p:nvPr/>
        </p:nvSpPr>
        <p:spPr>
          <a:xfrm rot="-10465216">
            <a:off x="13023582" y="6248313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38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 rot="-10465216">
            <a:off x="-2427245" y="-139662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38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5010723" y="5318308"/>
            <a:ext cx="450042" cy="674450"/>
          </a:xfrm>
          <a:custGeom>
            <a:avLst/>
            <a:gdLst/>
            <a:ahLst/>
            <a:cxnLst/>
            <a:rect l="l" t="t" r="r" b="b"/>
            <a:pathLst>
              <a:path w="450042" h="674450">
                <a:moveTo>
                  <a:pt x="0" y="0"/>
                </a:moveTo>
                <a:lnTo>
                  <a:pt x="450042" y="0"/>
                </a:lnTo>
                <a:lnTo>
                  <a:pt x="450042" y="674451"/>
                </a:lnTo>
                <a:lnTo>
                  <a:pt x="0" y="6744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8699409" y="5481928"/>
            <a:ext cx="699460" cy="394241"/>
          </a:xfrm>
          <a:custGeom>
            <a:avLst/>
            <a:gdLst/>
            <a:ahLst/>
            <a:cxnLst/>
            <a:rect l="l" t="t" r="r" b="b"/>
            <a:pathLst>
              <a:path w="699460" h="394241">
                <a:moveTo>
                  <a:pt x="0" y="0"/>
                </a:moveTo>
                <a:lnTo>
                  <a:pt x="699460" y="0"/>
                </a:lnTo>
                <a:lnTo>
                  <a:pt x="699460" y="394241"/>
                </a:lnTo>
                <a:lnTo>
                  <a:pt x="0" y="39424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2573177" y="5345342"/>
            <a:ext cx="667414" cy="667414"/>
          </a:xfrm>
          <a:custGeom>
            <a:avLst/>
            <a:gdLst/>
            <a:ahLst/>
            <a:cxnLst/>
            <a:rect l="l" t="t" r="r" b="b"/>
            <a:pathLst>
              <a:path w="667414" h="667414">
                <a:moveTo>
                  <a:pt x="0" y="0"/>
                </a:moveTo>
                <a:lnTo>
                  <a:pt x="667414" y="0"/>
                </a:lnTo>
                <a:lnTo>
                  <a:pt x="667414" y="667414"/>
                </a:lnTo>
                <a:lnTo>
                  <a:pt x="0" y="6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5768523" y="5407513"/>
            <a:ext cx="596186" cy="543071"/>
          </a:xfrm>
          <a:custGeom>
            <a:avLst/>
            <a:gdLst/>
            <a:ahLst/>
            <a:cxnLst/>
            <a:rect l="l" t="t" r="r" b="b"/>
            <a:pathLst>
              <a:path w="596186" h="543071">
                <a:moveTo>
                  <a:pt x="0" y="0"/>
                </a:moveTo>
                <a:lnTo>
                  <a:pt x="596186" y="0"/>
                </a:lnTo>
                <a:lnTo>
                  <a:pt x="596186" y="543071"/>
                </a:lnTo>
                <a:lnTo>
                  <a:pt x="0" y="54307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61" name="TextBox 61"/>
          <p:cNvSpPr txBox="1"/>
          <p:nvPr/>
        </p:nvSpPr>
        <p:spPr>
          <a:xfrm>
            <a:off x="15559088" y="778669"/>
            <a:ext cx="1728902" cy="22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941603" y="6478163"/>
            <a:ext cx="2095258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Patch the remaining broken structural references and correct all nesting bugs.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018987" y="6478163"/>
            <a:ext cx="2095258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Expand functional operations inside the student and teacher workspace screens.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822651" y="3885353"/>
            <a:ext cx="210696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Integrate Cam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873491" y="3885353"/>
            <a:ext cx="210696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Accuracy Audit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924331" y="3885353"/>
            <a:ext cx="210696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Voice Authentication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095370" y="6478163"/>
            <a:ext cx="2095258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Feed camera capture streams into local deep embedding models for matching.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432771" y="8009586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499329" y="8009586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3BA80D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654097" y="8009586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354465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568791" y="8009586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>
                <a:solidFill>
                  <a:srgbClr val="007B8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72" name="TextBox 11">
            <a:extLst>
              <a:ext uri="{FF2B5EF4-FFF2-40B4-BE49-F238E27FC236}">
                <a16:creationId xmlns:a16="http://schemas.microsoft.com/office/drawing/2014/main" id="{EFA5BCF5-AAE0-9BB9-BE6E-1AED8C569CCE}"/>
              </a:ext>
            </a:extLst>
          </p:cNvPr>
          <p:cNvSpPr txBox="1"/>
          <p:nvPr/>
        </p:nvSpPr>
        <p:spPr>
          <a:xfrm>
            <a:off x="1000125" y="9801225"/>
            <a:ext cx="1914754" cy="6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l">
              <a:lnSpc>
                <a:spcPts val="2520"/>
              </a:lnSpc>
            </a:pPr>
            <a:endParaRPr lang="en-US" sz="13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520"/>
              </a:lnSpc>
            </a:pPr>
            <a:endParaRPr lang="en-US" sz="13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9272587"/>
            <a:ext cx="16287750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000125" y="1614487"/>
            <a:ext cx="17102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App </a:t>
            </a:r>
            <a:r>
              <a:rPr lang="en-US" sz="4500" b="1" i="0" u="none" strike="noStrike" cap="none" dirty="0">
                <a:solidFill>
                  <a:srgbClr val="0F1B3D"/>
                </a:solidFill>
                <a:latin typeface="Poppins"/>
                <a:ea typeface="Poppins"/>
                <a:cs typeface="Poppins"/>
                <a:sym typeface="Poppins"/>
              </a:rPr>
              <a:t>Interface Overview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691112" y="754350"/>
            <a:ext cx="395055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Walkthrough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559087" y="778668"/>
            <a:ext cx="1728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00125" y="9501187"/>
            <a:ext cx="191475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6259174" y="9501187"/>
            <a:ext cx="11906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12 of 13</a:t>
            </a:r>
            <a:endParaRPr dirty="0"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714375"/>
            <a:ext cx="1443037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4929075" y="8743950"/>
            <a:ext cx="7858350" cy="24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1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"Interactive application demo of the complete </a:t>
            </a:r>
            <a:r>
              <a:rPr lang="en-US" sz="1575" b="0" i="1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SnapClass</a:t>
            </a:r>
            <a:r>
              <a:rPr lang="en-US" sz="1575" b="0" i="1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portal architecture." 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428750" y="5600700"/>
            <a:ext cx="7429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428750" y="7172325"/>
            <a:ext cx="7429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roject Update Demo - updated">
            <a:hlinkClick r:id="" action="ppaction://media"/>
            <a:extLst>
              <a:ext uri="{FF2B5EF4-FFF2-40B4-BE49-F238E27FC236}">
                <a16:creationId xmlns:a16="http://schemas.microsoft.com/office/drawing/2014/main" id="{A5549D65-152E-E212-4F08-1E8228A03E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71900" y="2486096"/>
            <a:ext cx="10744200" cy="60436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reeform 56">
            <a:extLst>
              <a:ext uri="{FF2B5EF4-FFF2-40B4-BE49-F238E27FC236}">
                <a16:creationId xmlns:a16="http://schemas.microsoft.com/office/drawing/2014/main" id="{6A4A06A4-191E-97BD-CEBA-3607B950F176}"/>
              </a:ext>
            </a:extLst>
          </p:cNvPr>
          <p:cNvSpPr/>
          <p:nvPr/>
        </p:nvSpPr>
        <p:spPr>
          <a:xfrm rot="11134784">
            <a:off x="-2427245" y="-1396620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1"/>
                </a:lnTo>
                <a:lnTo>
                  <a:pt x="0" y="6328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55">
            <a:extLst>
              <a:ext uri="{FF2B5EF4-FFF2-40B4-BE49-F238E27FC236}">
                <a16:creationId xmlns:a16="http://schemas.microsoft.com/office/drawing/2014/main" id="{45486B83-96C4-CD79-433E-064976E96B6D}"/>
              </a:ext>
            </a:extLst>
          </p:cNvPr>
          <p:cNvSpPr/>
          <p:nvPr/>
        </p:nvSpPr>
        <p:spPr>
          <a:xfrm rot="11134784">
            <a:off x="13023582" y="6248313"/>
            <a:ext cx="8833615" cy="6328081"/>
          </a:xfrm>
          <a:custGeom>
            <a:avLst/>
            <a:gdLst/>
            <a:ahLst/>
            <a:cxnLst/>
            <a:rect l="l" t="t" r="r" b="b"/>
            <a:pathLst>
              <a:path w="8833615" h="6328081">
                <a:moveTo>
                  <a:pt x="0" y="0"/>
                </a:moveTo>
                <a:lnTo>
                  <a:pt x="8833615" y="0"/>
                </a:lnTo>
                <a:lnTo>
                  <a:pt x="8833615" y="6328080"/>
                </a:lnTo>
                <a:lnTo>
                  <a:pt x="0" y="6328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7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0125" y="9272588"/>
            <a:ext cx="16287750" cy="442912"/>
            <a:chOff x="0" y="0"/>
            <a:chExt cx="21717000" cy="59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1717000" cy="590550"/>
            </a:xfrm>
            <a:custGeom>
              <a:avLst/>
              <a:gdLst/>
              <a:ahLst/>
              <a:cxnLst/>
              <a:rect l="l" t="t" r="r" b="b"/>
              <a:pathLst>
                <a:path w="21717000" h="590550">
                  <a:moveTo>
                    <a:pt x="0" y="0"/>
                  </a:moveTo>
                  <a:lnTo>
                    <a:pt x="21717000" y="0"/>
                  </a:lnTo>
                  <a:lnTo>
                    <a:pt x="2171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0" y="2407444"/>
            <a:ext cx="1143000" cy="57150"/>
            <a:chOff x="0" y="0"/>
            <a:chExt cx="1524000" cy="76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0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429000" y="5693569"/>
            <a:ext cx="11430000" cy="1671638"/>
            <a:chOff x="0" y="0"/>
            <a:chExt cx="15240000" cy="22288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5240000" cy="2228850"/>
            </a:xfrm>
            <a:custGeom>
              <a:avLst/>
              <a:gdLst/>
              <a:ahLst/>
              <a:cxnLst/>
              <a:rect l="l" t="t" r="r" b="b"/>
              <a:pathLst>
                <a:path w="15240000" h="2228850">
                  <a:moveTo>
                    <a:pt x="0" y="0"/>
                  </a:moveTo>
                  <a:lnTo>
                    <a:pt x="15240000" y="0"/>
                  </a:lnTo>
                  <a:lnTo>
                    <a:pt x="15240000" y="2228850"/>
                  </a:lnTo>
                  <a:lnTo>
                    <a:pt x="0" y="222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636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09430" y="768639"/>
            <a:ext cx="3829050" cy="277197"/>
            <a:chOff x="0" y="0"/>
            <a:chExt cx="5105400" cy="3695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05400" cy="369600"/>
            </a:xfrm>
            <a:custGeom>
              <a:avLst/>
              <a:gdLst/>
              <a:ahLst/>
              <a:cxnLst/>
              <a:rect l="l" t="t" r="r" b="b"/>
              <a:pathLst>
                <a:path w="5105400" h="369600">
                  <a:moveTo>
                    <a:pt x="0" y="0"/>
                  </a:moveTo>
                  <a:lnTo>
                    <a:pt x="5105400" y="0"/>
                  </a:lnTo>
                  <a:lnTo>
                    <a:pt x="5105400" y="369600"/>
                  </a:lnTo>
                  <a:lnTo>
                    <a:pt x="0" y="36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19153" b="-21915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105400" cy="3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Project Update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59088" y="792956"/>
            <a:ext cx="17287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CSE445 ML 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81087" y="2664619"/>
            <a:ext cx="6525816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79106" y="4426744"/>
            <a:ext cx="972978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 b="1">
                <a:solidFill>
                  <a:srgbClr val="00C2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Intelligent AI Attendance System Progress Presentation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94714" y="7936687"/>
            <a:ext cx="8488347" cy="27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Course Code: CSE445               Machine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72388" y="9501188"/>
            <a:ext cx="2943454" cy="4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North South University </a:t>
            </a:r>
          </a:p>
          <a:p>
            <a:pPr algn="ctr">
              <a:lnSpc>
                <a:spcPts val="2520"/>
              </a:lnSpc>
            </a:pPr>
            <a:endParaRPr lang="en-US"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00125" y="714375"/>
            <a:ext cx="1600200" cy="385762"/>
            <a:chOff x="0" y="0"/>
            <a:chExt cx="2133600" cy="5143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2133600" cy="514350"/>
            </a:xfrm>
            <a:custGeom>
              <a:avLst/>
              <a:gdLst/>
              <a:ahLst/>
              <a:cxnLst/>
              <a:rect l="l" t="t" r="r" b="b"/>
              <a:pathLst>
                <a:path w="2133600" h="514350">
                  <a:moveTo>
                    <a:pt x="0" y="0"/>
                  </a:moveTo>
                  <a:lnTo>
                    <a:pt x="2133600" y="0"/>
                  </a:lnTo>
                  <a:lnTo>
                    <a:pt x="21336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4014788" y="5969794"/>
            <a:ext cx="10258425" cy="39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575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GITHUB REPOSITORY LINK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836156" y="6536531"/>
            <a:ext cx="442912" cy="457200"/>
            <a:chOff x="0" y="0"/>
            <a:chExt cx="590550" cy="6096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590550" cy="609600"/>
            </a:xfrm>
            <a:custGeom>
              <a:avLst/>
              <a:gdLst/>
              <a:ahLst/>
              <a:cxnLst/>
              <a:rect l="l" t="t" r="r" b="b"/>
              <a:pathLst>
                <a:path w="590550" h="609600">
                  <a:moveTo>
                    <a:pt x="0" y="0"/>
                  </a:moveTo>
                  <a:lnTo>
                    <a:pt x="590550" y="0"/>
                  </a:lnTo>
                  <a:lnTo>
                    <a:pt x="5905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96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5999064" y="7936706"/>
            <a:ext cx="285750" cy="228600"/>
            <a:chOff x="0" y="0"/>
            <a:chExt cx="381000" cy="3048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625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486900" y="7936706"/>
            <a:ext cx="228600" cy="228600"/>
            <a:chOff x="0" y="0"/>
            <a:chExt cx="304800" cy="3048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625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1058</Words>
  <Application>Microsoft Office PowerPoint</Application>
  <PresentationFormat>Custom</PresentationFormat>
  <Paragraphs>178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TT Hoves Bold</vt:lpstr>
      <vt:lpstr>Calibri</vt:lpstr>
      <vt:lpstr>Poppins Medium</vt:lpstr>
      <vt:lpstr>Poppins Bold</vt:lpstr>
      <vt:lpstr>Inter Light</vt:lpstr>
      <vt:lpstr>Inter Bold</vt:lpstr>
      <vt:lpstr>Inter Italics</vt:lpstr>
      <vt:lpstr>TT Hoves</vt:lpstr>
      <vt:lpstr>Arial</vt:lpstr>
      <vt:lpstr>Inter SemiBold</vt:lpstr>
      <vt:lpstr>Inter Medium</vt:lpstr>
      <vt:lpstr>Inter</vt:lpstr>
      <vt:lpstr>Poppins</vt:lpstr>
      <vt:lpstr>Calibri (MS)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AI Attendance System Presentation (1).pptx</dc:title>
  <dc:creator>User</dc:creator>
  <cp:lastModifiedBy>User</cp:lastModifiedBy>
  <cp:revision>5</cp:revision>
  <dcterms:created xsi:type="dcterms:W3CDTF">2006-08-16T00:00:00Z</dcterms:created>
  <dcterms:modified xsi:type="dcterms:W3CDTF">2026-07-11T03:46:48Z</dcterms:modified>
  <dc:identifier>DAHPAWA6djg</dc:identifier>
</cp:coreProperties>
</file>